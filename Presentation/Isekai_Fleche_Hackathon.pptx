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 per criterio</c:v>
                </c:pt>
              </c:strCache>
            </c:strRef>
          </c:tx>
          <c:spPr>
            <a:solidFill>
              <a:srgbClr val="43C3A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5C716C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D1 valori del motore</c:v>
                  </c:pt>
                  <c:pt idx="1">
                    <c:v>D7 domande di consiglio</c:v>
                  </c:pt>
                  <c:pt idx="2">
                    <c:v>D18 arrotondamenti</c:v>
                  </c:pt>
                  <c:pt idx="3">
                    <c:v>D5 risparmio a zero</c:v>
                  </c:pt>
                  <c:pt idx="4">
                    <c:v>D6 crescita a zero</c:v>
                  </c:pt>
                  <c:pt idx="5">
                    <c:v>D13 dati nelle tappe</c:v>
                  </c:pt>
                  <c:pt idx="6">
                    <c:v>D2 capitale all'obiettivo</c:v>
                  </c:pt>
                  <c:pt idx="7">
                    <c:v>D8 parole proibite</c:v>
                  </c:pt>
                  <c:pt idx="8">
                    <c:v>D3 calcolo ripetibile</c:v>
                  </c:pt>
                  <c:pt idx="9">
                    <c:v>D9 nessun prodotto citato</c:v>
                  </c:pt>
                  <c:pt idx="10">
                    <c:v>D16 orizzonte in anni</c:v>
                  </c:pt>
                  <c:pt idx="11">
                    <c:v>strutturali, senza id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29</c:v>
                </c:pt>
                <c:pt idx="1">
                  <c:v>11</c:v>
                </c:pt>
                <c:pt idx="2">
                  <c:v>6</c:v>
                </c:pt>
                <c:pt idx="3">
                  <c:v>5</c:v>
                </c:pt>
                <c:pt idx="4">
                  <c:v>4</c:v>
                </c:pt>
                <c:pt idx="5">
                  <c:v>4</c:v>
                </c:pt>
                <c:pt idx="6">
                  <c:v>3</c:v>
                </c:pt>
                <c:pt idx="7">
                  <c:v>3</c:v>
                </c:pt>
                <c:pt idx="8">
                  <c:v>2</c:v>
                </c:pt>
                <c:pt idx="9">
                  <c:v>2</c:v>
                </c:pt>
                <c:pt idx="10">
                  <c:v>2</c:v>
                </c:pt>
                <c:pt idx="11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5C716C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7323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"/>
        </c:scaling>
        <c:delete val="0"/>
        <c:axPos val="b"/>
        <c:majorGridlines>
          <c:spPr>
            <a:ln w="12700" cap="flat">
              <a:solidFill>
                <a:srgbClr val="E4EB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716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8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Apertura. Lo scenario scelto è uno solo: capire il costo reale delle uscite ricorrenti e simularne l'impatto in mesi di libertà finanziaria. Il deck ha due metà: il prodotto, poi il sistema agentico che l'ha costruito.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unica sul deliverable 01. A sinistra la difficoltà in tre righe: ognuna ha una difficoltà, un processo e una conseguenza. A destra il meccanismo educativo: la percentuale diventa euro e poi tempo. Il numero finale — 15 mesi — è la sola cosa che la persona ricorda.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challenge vieta la pura riscrittura di testi: qui la capability è l'engine e il percorso che lo riempie con i dati della persona.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pezzi, un solo principio: il calcolo e il linguaggio sono separati. Se si togliesse il traduttore, i numeri resterebbero; se si togliesse il motore, non resterebbe niente da spiegare. È la risposta al divieto della challenge sulla «pura riscrittura di testi».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Seconda metà del deck: il sistema agentico. È il deliverable implicito della challenge — l'agentic coding non è il mezzo per arrivare all'app, è parte di ciò che presentiamo.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ore per due persone sono dieci ore-persona, e la pipeline stessa consuma tempo. Il taglio di scope è dichiarato, non subito: nello stato c'è scritto chi ha deciso cosa e perché.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vincolo su f-clarity è quello che conta: è la ragione per cui la Risk &amp; Clarity Note vale qualcosa. Se l'agente che valuta la semplificazione potesse correggerla, valuterebbe il proprio lavoro.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slide è la risposta alla domanda «perché nove ruoli e non uno». Sul deliverable 02 il verificatore è una misura pubblicata da terzi: è la forma più forte di verifica, perché non dipende da noi.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punto da sottolineare a voce: l'orchestratore chiede invece di decidere, su scenario, livello di semplificazione e cosa tagliare per tempo.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 mostrare a voce se c'è tempo: i valori attesi stanno in testa alla suite, quindi chiunque ricalcola 4.500 = 1.500 × 3 e confronta, senza fidarsi di noi. È la forma di trasparenza più economica che esista.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chiedono perché non il 100%: i criteri di interfaccia non sono verificabili con test sul calcolo senza costruire un'infrastruttura che in cinque ore non ripaga. La scelta è dichiarata e i criteri scoperti sono nominati uno per uno.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messaggio: la suite non è un artefatto scritto una volta e dimenticato. Cresce con la feature e viene rieseguita a ogni passaggio, e quando il brief cambia si aggiornano i fixture — non le aspettative.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punto forte: la disposizione di ogni controllo — blocca o avvisa — è scelta in base alla direzione dell'errore, non alla gravità percepita.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registro è la fonte da cui il terzo deliverable prende le proprie affermazioni sui controlli. Senza i record sui casi consentiti, «il controllo era attivo» sarebbe un'affermazione senza prova.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Formula: 89 + (300 × frasi − 10 × lettere) / parole. Gulpease è costruito sull'italiano e conta le lettere, non le sillabe: si calcola in modo deterministico senza dizionario di sillabazione.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ci chiedono qual è la trovata più importante: l'omissione della sigla ISC. Il testo semplificato è più leggibile ma impedisce all'utente di riconoscere la parola sul documento vero, che era l'obiettivo dichiarato del prodotto.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riga più difendibile è l'ultima: zero raccomandazioni in output, e la verifica è un grep — non un'impressione.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Chiusura argomentativa prima della slide finale: ogni «cosa evitare» ha un meccanismo che lo impedisce, non una promessa.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Chiusura. Se resta tempo: mostrare l'app dal vivo partendo dal Percorso, tappa 8 (previdenza e i suoi costi), dove la catena 1,45% → 4.550 € → 15 mesi è visibile in una schermata.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masco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607808" y="1024128"/>
            <a:ext cx="4279392" cy="4526280"/>
          </a:xfrm>
          <a:prstGeom prst="rect">
            <a:avLst/>
          </a:prstGeom>
        </p:spPr>
      </p:pic>
      <p:pic>
        <p:nvPicPr>
          <p:cNvPr id="3" name="Image 1" descr="img/logo_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48640"/>
            <a:ext cx="2487168" cy="9966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66928" y="1874520"/>
            <a:ext cx="7223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Mesi di Libertà</a:t>
            </a:r>
            <a:endParaRPr lang="en-US" sz="4400" dirty="0"/>
          </a:p>
        </p:txBody>
      </p:sp>
      <p:sp>
        <p:nvSpPr>
          <p:cNvPr id="5" name="Text 1"/>
          <p:cNvSpPr txBox="1"/>
          <p:nvPr/>
        </p:nvSpPr>
        <p:spPr>
          <a:xfrm>
            <a:off x="566928" y="274320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3C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Educazione finanziaria che traduce percentuali in tempo.</a:t>
            </a:r>
            <a:endParaRPr lang="en-US" sz="1600" dirty="0"/>
          </a:p>
        </p:txBody>
      </p:sp>
      <p:sp>
        <p:nvSpPr>
          <p:cNvPr id="6" name="Text 2"/>
          <p:cNvSpPr txBox="1"/>
          <p:nvPr/>
        </p:nvSpPr>
        <p:spPr>
          <a:xfrm>
            <a:off x="566928" y="3218688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0B4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viaggio oggi, una libertà domani.</a:t>
            </a:r>
            <a:endParaRPr lang="en-US" sz="1500" dirty="0"/>
          </a:p>
        </p:txBody>
      </p:sp>
      <p:sp>
        <p:nvSpPr>
          <p:cNvPr id="7" name="Shape 3"/>
          <p:cNvSpPr/>
          <p:nvPr/>
        </p:nvSpPr>
        <p:spPr>
          <a:xfrm>
            <a:off x="566928" y="3913632"/>
            <a:ext cx="6720840" cy="1005840"/>
          </a:xfrm>
          <a:prstGeom prst="roundRect">
            <a:avLst>
              <a:gd name="adj" fmla="val 7273"/>
            </a:avLst>
          </a:prstGeom>
          <a:solidFill>
            <a:srgbClr val="152420"/>
          </a:solidFill>
          <a:ln w="12700">
            <a:solidFill>
              <a:srgbClr val="2B453D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86384" y="4078224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5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Costruita con Flèche</a:t>
            </a:r>
            <a:endParaRPr lang="en-US" sz="13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93A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 ruoli interni, un orchestratore, tre controlli automatici</a:t>
            </a:r>
            <a:endParaRPr lang="en-US" sz="1350" dirty="0"/>
          </a:p>
        </p:txBody>
      </p:sp>
      <p:sp>
        <p:nvSpPr>
          <p:cNvPr id="9" name="Text 5"/>
          <p:cNvSpPr txBox="1"/>
          <p:nvPr/>
        </p:nvSpPr>
        <p:spPr>
          <a:xfrm>
            <a:off x="566928" y="5257800"/>
            <a:ext cx="7223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Hackathon · Tema 02 Inclusione Finanziaria   ·   Salvatore Scarpato e Marco   ·   14 settembre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46304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43C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 01 · USER DIFFICULTY STATEMENT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84048"/>
            <a:ext cx="8595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difficoltà non è la finanza. È la traduzione.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07008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17323A"/>
          </a:solidFill>
          <a:ln w="12700">
            <a:solidFill>
              <a:srgbClr val="17323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316736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Giulia, 32 anni  ·  1.800 € netti  ·  nessuna formazione finanziaria  ·  un fondo pensione che non ha scelto capendolo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975104"/>
            <a:ext cx="5349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 difficoltà, una sola causa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2359152"/>
            <a:ext cx="5349240" cy="877824"/>
          </a:xfrm>
          <a:prstGeom prst="roundRect">
            <a:avLst>
              <a:gd name="adj" fmla="val 8333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2606040"/>
            <a:ext cx="384048" cy="384048"/>
          </a:xfrm>
          <a:prstGeom prst="ellipse">
            <a:avLst/>
          </a:prstGeom>
          <a:solidFill>
            <a:srgbClr val="43C3A3"/>
          </a:solidFill>
          <a:ln w="12700">
            <a:solidFill>
              <a:srgbClr val="43C3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" y="2606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316736" y="2459736"/>
            <a:ext cx="4434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percentuale non dice se sono molti o pochi soldi.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Senza uno strumento per tradurla, la persona non prova nemmeno a rispondere: il dato passa inosservato ogni anno.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" y="3346704"/>
            <a:ext cx="5349240" cy="877824"/>
          </a:xfrm>
          <a:prstGeom prst="roundRect">
            <a:avLst>
              <a:gd name="adj" fmla="val 8333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86384" y="3593592"/>
            <a:ext cx="384048" cy="384048"/>
          </a:xfrm>
          <a:prstGeom prst="ellipse">
            <a:avLst/>
          </a:prstGeom>
          <a:solidFill>
            <a:srgbClr val="43C3A3"/>
          </a:solidFill>
          <a:ln w="12700">
            <a:solidFill>
              <a:srgbClr val="43C3A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6384" y="3593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316736" y="3447288"/>
            <a:ext cx="4434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costo non si vede, perché non viene addebitato.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trattenuto prima che il saldo si aggiorni: nessun bonifico, nessuna notifica. Non entra nel budget percepito.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4334256"/>
            <a:ext cx="5349240" cy="877824"/>
          </a:xfrm>
          <a:prstGeom prst="roundRect">
            <a:avLst>
              <a:gd name="adj" fmla="val 8333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6384" y="4581144"/>
            <a:ext cx="384048" cy="384048"/>
          </a:xfrm>
          <a:prstGeom prst="ellipse">
            <a:avLst/>
          </a:prstGeom>
          <a:solidFill>
            <a:srgbClr val="43C3A3"/>
          </a:solidFill>
          <a:ln w="12700">
            <a:solidFill>
              <a:srgbClr val="43C3A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86384" y="45811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316736" y="4434840"/>
            <a:ext cx="4434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numero senza tempo non muove nulla.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«174 € l'anno» resta astratto. Serve un'unità che la persona senta: i mesi di libertà che quel costo le toglie.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144768" y="197510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stessa cifra, tradotta due volte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144768" y="2359152"/>
            <a:ext cx="5486400" cy="877824"/>
          </a:xfrm>
          <a:prstGeom prst="roundRect">
            <a:avLst>
              <a:gd name="adj" fmla="val 8333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64224" y="2523744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1,45%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8412480" y="2542032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2F8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riga sul documento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quello che la persona legge oggi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144768" y="3346704"/>
            <a:ext cx="5486400" cy="877824"/>
          </a:xfrm>
          <a:prstGeom prst="roundRect">
            <a:avLst>
              <a:gd name="adj" fmla="val 8333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64224" y="3511296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4.550 €</a:t>
            </a:r>
            <a:endParaRPr lang="en-US" sz="2600" dirty="0"/>
          </a:p>
        </p:txBody>
      </p:sp>
      <p:sp>
        <p:nvSpPr>
          <p:cNvPr id="25" name="Text 23"/>
          <p:cNvSpPr txBox="1"/>
          <p:nvPr/>
        </p:nvSpPr>
        <p:spPr>
          <a:xfrm>
            <a:off x="8412480" y="3529584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2F8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trattenuti in dieci anni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calcolati sui suoi parametri, non su un esempio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144768" y="4334256"/>
            <a:ext cx="5486400" cy="877824"/>
          </a:xfrm>
          <a:prstGeom prst="roundRect">
            <a:avLst>
              <a:gd name="adj" fmla="val 8333"/>
            </a:avLst>
          </a:prstGeom>
          <a:solidFill>
            <a:srgbClr val="17323A"/>
          </a:solidFill>
          <a:ln w="19050">
            <a:solidFill>
              <a:srgbClr val="F0B42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364224" y="4498848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0B4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 mesi</a:t>
            </a:r>
            <a:endParaRPr lang="en-US" sz="2600" dirty="0"/>
          </a:p>
        </p:txBody>
      </p:sp>
      <p:sp>
        <p:nvSpPr>
          <p:cNvPr id="28" name="Text 26"/>
          <p:cNvSpPr txBox="1"/>
          <p:nvPr/>
        </p:nvSpPr>
        <p:spPr>
          <a:xfrm>
            <a:off x="8412480" y="4517136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43C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suo risparmio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93A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l'unica risorsa che non si recupera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468112"/>
            <a:ext cx="1106424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43C3A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2960" y="5596128"/>
            <a:ext cx="10607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PUÒ dire: «questo costo trattiene 4.550 € in dieci anni sui tuoi parametri».   NON può dire: «è alto», «ti conviene cambiare», «questo fondo è migliore».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66928" y="623620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Prima, alla domanda «quanto ti costa l'1,45% in dieci anni su 12.000 €?»: «non lo so». Dopo: indica l'ordine di grandezza e sa da dove viene.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46304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43C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CAPABILITY SOFTWARE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84048"/>
            <a:ext cx="8595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guida che contiene uno strumento.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07008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7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sezioni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66928" y="1737360"/>
            <a:ext cx="5212080" cy="548640"/>
          </a:xfrm>
          <a:prstGeom prst="roundRect">
            <a:avLst>
              <a:gd name="adj" fmla="val 13333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1847088"/>
            <a:ext cx="329184" cy="329184"/>
          </a:xfrm>
          <a:prstGeom prst="ellipse">
            <a:avLst/>
          </a:prstGeom>
          <a:solidFill>
            <a:srgbClr val="17323A"/>
          </a:solidFill>
          <a:ln w="12700">
            <a:solidFill>
              <a:srgbClr val="1732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847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225296" y="1819656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Percorso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home: 9 tappe in 3 fasi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2395728"/>
            <a:ext cx="5212080" cy="548640"/>
          </a:xfrm>
          <a:prstGeom prst="roundRect">
            <a:avLst>
              <a:gd name="adj" fmla="val 13333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9808" y="2505456"/>
            <a:ext cx="329184" cy="329184"/>
          </a:xfrm>
          <a:prstGeom prst="ellipse">
            <a:avLst/>
          </a:prstGeom>
          <a:solidFill>
            <a:srgbClr val="17323A"/>
          </a:solidFill>
          <a:ln w="12700">
            <a:solidFill>
              <a:srgbClr val="17323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9808" y="25054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225296" y="2478024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Simulatore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doppio effetto di una spesa fissa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3054096"/>
            <a:ext cx="5212080" cy="548640"/>
          </a:xfrm>
          <a:prstGeom prst="roundRect">
            <a:avLst>
              <a:gd name="adj" fmla="val 13333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49808" y="3163824"/>
            <a:ext cx="329184" cy="329184"/>
          </a:xfrm>
          <a:prstGeom prst="ellipse">
            <a:avLst/>
          </a:prstGeom>
          <a:solidFill>
            <a:srgbClr val="17323A"/>
          </a:solidFill>
          <a:ln w="12700">
            <a:solidFill>
              <a:srgbClr val="17323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49808" y="31638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1225296" y="313639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Uscite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caccia alle uscite invisibili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3712464"/>
            <a:ext cx="5212080" cy="548640"/>
          </a:xfrm>
          <a:prstGeom prst="roundRect">
            <a:avLst>
              <a:gd name="adj" fmla="val 13333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9808" y="3822192"/>
            <a:ext cx="329184" cy="329184"/>
          </a:xfrm>
          <a:prstGeom prst="ellipse">
            <a:avLst/>
          </a:prstGeom>
          <a:solidFill>
            <a:srgbClr val="17323A"/>
          </a:solidFill>
          <a:ln w="12700">
            <a:solidFill>
              <a:srgbClr val="17323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49808" y="3822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225296" y="379476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Progressi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proiezione tratteggiata vs dati reali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4370832"/>
            <a:ext cx="5212080" cy="548640"/>
          </a:xfrm>
          <a:prstGeom prst="roundRect">
            <a:avLst>
              <a:gd name="adj" fmla="val 13333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49808" y="4480560"/>
            <a:ext cx="329184" cy="329184"/>
          </a:xfrm>
          <a:prstGeom prst="ellipse">
            <a:avLst/>
          </a:prstGeom>
          <a:solidFill>
            <a:srgbClr val="17323A"/>
          </a:solidFill>
          <a:ln w="12700">
            <a:solidFill>
              <a:srgbClr val="17323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49808" y="4480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1225296" y="445312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Profilo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parametri che alimentano tutto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6144768" y="120700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7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 tappe, 4 pilastri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6144768" y="1737360"/>
            <a:ext cx="5486400" cy="1042416"/>
          </a:xfrm>
          <a:prstGeom prst="roundRect">
            <a:avLst>
              <a:gd name="adj" fmla="val 7018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345936" y="1938528"/>
            <a:ext cx="182880" cy="182880"/>
          </a:xfrm>
          <a:prstGeom prst="ellipse">
            <a:avLst/>
          </a:prstGeom>
          <a:solidFill>
            <a:srgbClr val="43C3A3"/>
          </a:solidFill>
          <a:ln w="12700">
            <a:solidFill>
              <a:srgbClr val="43C3A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638544" y="1856232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43C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 · MESE 1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Gestione del budget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fisse o variabili · 2 il tuo tasso di risparmio · 3 registra un mese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144768" y="2889504"/>
            <a:ext cx="5486400" cy="1042416"/>
          </a:xfrm>
          <a:prstGeom prst="roundRect">
            <a:avLst>
              <a:gd name="adj" fmla="val 7018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345936" y="3090672"/>
            <a:ext cx="182880" cy="182880"/>
          </a:xfrm>
          <a:prstGeom prst="ellipse">
            <a:avLst/>
          </a:prstGeom>
          <a:solidFill>
            <a:srgbClr val="2F8F7A"/>
          </a:solidFill>
          <a:ln w="12700">
            <a:solidFill>
              <a:srgbClr val="2F8F7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638544" y="3008376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2F8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 · MESI 2–6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di emergenza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perché tre mesi · 5 i costi che non vedi · 6 interesse composto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144768" y="4041648"/>
            <a:ext cx="5486400" cy="1042416"/>
          </a:xfrm>
          <a:prstGeom prst="roundRect">
            <a:avLst>
              <a:gd name="adj" fmla="val 7018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45936" y="4242816"/>
            <a:ext cx="182880" cy="182880"/>
          </a:xfrm>
          <a:prstGeom prst="ellipse">
            <a:avLst/>
          </a:prstGeom>
          <a:solidFill>
            <a:srgbClr val="F0B429"/>
          </a:solidFill>
          <a:ln w="12700">
            <a:solidFill>
              <a:srgbClr val="F0B429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638544" y="416052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8A6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 · FUTURO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Rischio, rendimento e previdenza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rischio e rendimento · 8 previdenza e i suoi costi · 9 il tuo orizzonte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566928" y="5230368"/>
            <a:ext cx="521208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5E0D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86384" y="5358384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Nessuna schermata calcola: tutte leggono lo stesso motore. Cambiare un parametro in Profilo aggiorna le altre quattro senza ricaricare.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144768" y="5230368"/>
            <a:ext cx="548640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43C3A3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364224" y="5358384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sottotitolo di tappa contiene un dato reale della persona, calcolato dal motore: «il tuo: 16,7%», «il tuo fondo: 4.500 €», «3 di 7 trovate».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566928" y="623620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schermate · 7.435 righe di codice · un motore di calcolo con 11 funzioni. Schermata di avvio: Percorso, non il simulatore.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46304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43C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FUNZIONA, IN TRE PEZZI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numeri vengono da un calcolo, non da un modello.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280160"/>
            <a:ext cx="3429000" cy="2286000"/>
          </a:xfrm>
          <a:prstGeom prst="roundRect">
            <a:avLst>
              <a:gd name="adj" fmla="val 3200"/>
            </a:avLst>
          </a:prstGeom>
          <a:solidFill>
            <a:srgbClr val="17323A"/>
          </a:solidFill>
          <a:ln w="12700">
            <a:solidFill>
              <a:srgbClr val="17323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1444752"/>
            <a:ext cx="295351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F0B4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motore di calcolo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43C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prende i parametri, restituisce i numeri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Riceve quello che la persona ha dichiarato — reddito, risparmio, capitale, costo — e produce ogni cifra che l'app mostra. Stessi dati, stesso risultato, sempre.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rgbClr val="93A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Nessuna schermata calcola per conto proprio.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069080" y="2240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3C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26280" y="1280160"/>
            <a:ext cx="3429000" cy="2286000"/>
          </a:xfrm>
          <a:prstGeom prst="roundRect">
            <a:avLst>
              <a:gd name="adj" fmla="val 3200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64024" y="1444752"/>
            <a:ext cx="295351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traduttore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F8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spiega, non calcola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Trasforma il risultato in una frase, al livello di linguaggio scelto fra tre. Ogni cifra che scrive deve già esistere nel risultato che ha ricevuto.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arrotonda, non stima, non aggiunge numeri.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028432" y="2240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3C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485632" y="1280160"/>
            <a:ext cx="3145536" cy="2286000"/>
          </a:xfrm>
          <a:prstGeom prst="roundRect">
            <a:avLst>
              <a:gd name="adj" fmla="val 3200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723376" y="1444752"/>
            <a:ext cx="267004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confine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B55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riconosce le richieste di consiglio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Otto domande tipiche — «conviene?», «è caro?», «cosa faresti tu?», «devo disdire?» — vengono riconosciute e ricevono una risposta fissa, scritta a mano.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risposta non passa da un modello: non può scivolare in un consiglio.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3730752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17323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877056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regola che non si negozia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Tutti i numeri mostrati alla persona vengono dal motore di calcolo. Nessuna cifra è generata da un modello linguistico: un modello che arrotonda produce numeri non riproducibili, e un numero non riproducibile non è educazione — è un'affermazione da credere.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4846320"/>
            <a:ext cx="11064240" cy="1188720"/>
          </a:xfrm>
          <a:prstGeom prst="roundRect">
            <a:avLst>
              <a:gd name="adj" fmla="val 6154"/>
            </a:avLst>
          </a:prstGeom>
          <a:solidFill>
            <a:srgbClr val="17323A"/>
          </a:solidFill>
          <a:ln w="12700">
            <a:solidFill>
              <a:srgbClr val="17323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68680" y="5010912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risposta a «mi conviene cambiare?», parola per parola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i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«Questo dipende da cose che non conosco e che riguardano solo te: quanto ti serve quel denaro, quando, e quanto ti pesa il rischio. Quello che posso fare è insegnarti a leggere il costo — così la domanda la porti tu, precisa, a chi di dovere. Vuoi che ti mostri quali tre numeri guardare?»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616305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la stessa frase ogni volta: restituisce la decisione alla persona e le propone un momento educativo al posto di un consiglio.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masco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26680" y="1234440"/>
            <a:ext cx="4187952" cy="44348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2084832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Flèche</a:t>
            </a:r>
            <a:endParaRPr lang="en-US" sz="52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3017520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3C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sistema agentico che ha costruito l'app.</a:t>
            </a:r>
            <a:endParaRPr lang="en-US" sz="17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3584448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F0B4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 «abbiamo nove agenti», ma: ogni requisito della challenge ha un agente che lo possiede e un altro che lo verifica.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4572000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AD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plugin Claude Code  ·  claude --plugin-dir Fleche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46304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43C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SISTEMA IN UNA PAGINA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84048"/>
            <a:ext cx="8595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 fa cosa, e in quale ordine.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25296"/>
            <a:ext cx="2606040" cy="1975104"/>
          </a:xfrm>
          <a:prstGeom prst="roundRect">
            <a:avLst>
              <a:gd name="adj" fmla="val 3704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408176"/>
            <a:ext cx="384048" cy="384048"/>
          </a:xfrm>
          <a:prstGeom prst="ellipse">
            <a:avLst/>
          </a:prstGeom>
          <a:solidFill>
            <a:srgbClr val="43C3A3"/>
          </a:solidFill>
          <a:ln w="12700">
            <a:solidFill>
              <a:srgbClr val="43C3A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6384" y="1408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2029968" y="142646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71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20k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1883664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73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f-analyst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43C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definisce lo scenario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difficoltà precisa e sette criteri che un test può verificare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3191256" y="201168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392424" y="1225296"/>
            <a:ext cx="2606040" cy="1975104"/>
          </a:xfrm>
          <a:prstGeom prst="roundRect">
            <a:avLst>
              <a:gd name="adj" fmla="val 3704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11880" y="1408176"/>
            <a:ext cx="384048" cy="384048"/>
          </a:xfrm>
          <a:prstGeom prst="ellipse">
            <a:avLst/>
          </a:prstGeom>
          <a:solidFill>
            <a:srgbClr val="17323A"/>
          </a:solidFill>
          <a:ln w="12700">
            <a:solidFill>
              <a:srgbClr val="17323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11880" y="1408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855464" y="142646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71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202k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611880" y="1883664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73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f-dev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costruisce e verifica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motore di calcolo, le dieci schermate e i test che citano i criteri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016752" y="201168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217920" y="1225296"/>
            <a:ext cx="2606040" cy="1975104"/>
          </a:xfrm>
          <a:prstGeom prst="roundRect">
            <a:avLst>
              <a:gd name="adj" fmla="val 3704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37376" y="1408176"/>
            <a:ext cx="384048" cy="384048"/>
          </a:xfrm>
          <a:prstGeom prst="ellipse">
            <a:avLst/>
          </a:prstGeom>
          <a:solidFill>
            <a:srgbClr val="2F8F7A"/>
          </a:solidFill>
          <a:ln w="12700">
            <a:solidFill>
              <a:srgbClr val="2F8F7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37376" y="1408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0" y="142646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71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26k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437376" y="1883664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73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f-readability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F8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misura la chiarezza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leggibilità prima e dopo, con un indice pubblico: +11,7 e +1,7 punti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842248" y="201168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043416" y="1225296"/>
            <a:ext cx="2606040" cy="1975104"/>
          </a:xfrm>
          <a:prstGeom prst="roundRect">
            <a:avLst>
              <a:gd name="adj" fmla="val 3704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262872" y="1408176"/>
            <a:ext cx="384048" cy="384048"/>
          </a:xfrm>
          <a:prstGeom prst="ellipse">
            <a:avLst/>
          </a:prstGeom>
          <a:solidFill>
            <a:srgbClr val="B5502F"/>
          </a:solidFill>
          <a:ln w="12700">
            <a:solidFill>
              <a:srgbClr val="B5502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262872" y="1408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506456" y="142646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71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30k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262872" y="1883664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73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f-clarity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B55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controlla il significato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confronto voce per voce fra originale e versione semplificata: 3 trovate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66928" y="3346704"/>
            <a:ext cx="54864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F0B42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04672" y="3493008"/>
            <a:ext cx="502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controllo fra il passo 2 e il 3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 automatica che ogni criterio dichiarato abbia un test che lo cita. Se manca, il compito torna allo sviluppo con quel criterio specifico — non con un generico «completa i test». Dopo due iterazioni senza convergenza l'orchestratore si ferma e chiede.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236208" y="3346704"/>
            <a:ext cx="5394960" cy="1371600"/>
          </a:xfrm>
          <a:prstGeom prst="roundRect">
            <a:avLst>
              <a:gd name="adj" fmla="val 5333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473952" y="3493008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Quattro ruoli su nove non sono stati invocati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Progettazione dei test, esecuzione indipendente, review contro rubrica e avvocato del diavolo: saltati per tempo, con priorità ai tre deliverable. La decisione è dell'operatore e sta scritta nello stato della pipeline, con il nome di chi l'ha presa.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66928" y="4956048"/>
            <a:ext cx="260604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2700">
            <a:solidFill>
              <a:srgbClr val="D5E0D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68096" y="5047488"/>
            <a:ext cx="685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3C3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3000" dirty="0"/>
          </a:p>
        </p:txBody>
      </p:sp>
      <p:sp>
        <p:nvSpPr>
          <p:cNvPr id="33" name="Text 31"/>
          <p:cNvSpPr txBox="1"/>
          <p:nvPr/>
        </p:nvSpPr>
        <p:spPr>
          <a:xfrm>
            <a:off x="1527048" y="5102352"/>
            <a:ext cx="153619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ruoli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ognuno con permessi distinti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392424" y="4956048"/>
            <a:ext cx="260604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2700">
            <a:solidFill>
              <a:srgbClr val="D5E0DC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593592" y="5047488"/>
            <a:ext cx="685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3C3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36" name="Text 34"/>
          <p:cNvSpPr txBox="1"/>
          <p:nvPr/>
        </p:nvSpPr>
        <p:spPr>
          <a:xfrm>
            <a:off x="4352544" y="5102352"/>
            <a:ext cx="153619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orchestratore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 e non esegue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217920" y="4956048"/>
            <a:ext cx="260604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2700">
            <a:solidFill>
              <a:srgbClr val="D5E0D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419088" y="5047488"/>
            <a:ext cx="685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3C3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39" name="Text 37"/>
          <p:cNvSpPr txBox="1"/>
          <p:nvPr/>
        </p:nvSpPr>
        <p:spPr>
          <a:xfrm>
            <a:off x="7178040" y="5102352"/>
            <a:ext cx="153619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controlli automatici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bloccano, uno avvisa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9043416" y="4956048"/>
            <a:ext cx="260604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2700">
            <a:solidFill>
              <a:srgbClr val="D5E0D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244584" y="5047488"/>
            <a:ext cx="685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3C3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42" name="Text 40"/>
          <p:cNvSpPr txBox="1"/>
          <p:nvPr/>
        </p:nvSpPr>
        <p:spPr>
          <a:xfrm>
            <a:off x="10003536" y="5102352"/>
            <a:ext cx="153619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strumenti di misura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 riproducibili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566928" y="605332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~700k token sull'intera pipeline. Il criterio di successo è «i tre deliverable esistono e la demo funziona», non «tutti i ruoli hanno contribuito».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46304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43C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NOVE RUOLI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Ogni ruolo esiste perché separa una responsabilità.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749808" y="122529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ruolo interno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615184" y="122529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cosa fa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852160" y="122529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cosa non fa, con la sua ragione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11064240" cy="434340"/>
          </a:xfrm>
          <a:prstGeom prst="roundRect">
            <a:avLst>
              <a:gd name="adj" fmla="val 8421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1609344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f-analyst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615184" y="1572768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8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definisce lo scenario e i criteri verificabili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852160" y="1572768"/>
            <a:ext cx="5623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implementa: se scrivesse la soluzione, specifica e codice convergerebbero e nessuno verificherebbe che il secondo soddisfi la prima.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749808" y="2098548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f-dev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615184" y="2061972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8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costruisce l'app e scrive i test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852160" y="2061972"/>
            <a:ext cx="5623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modifica la specifica: adattare il requisito a ciò che è stato scritto è la direzione sbagliata.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2532888"/>
            <a:ext cx="11064240" cy="434340"/>
          </a:xfrm>
          <a:prstGeom prst="roundRect">
            <a:avLst>
              <a:gd name="adj" fmla="val 8421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49808" y="2587752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f-test-design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2615184" y="255117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8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progetta i casi di test prima del codice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5852160" y="2551176"/>
            <a:ext cx="5623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può eseguirli: chi progetta i test e ha modo di lanciarli tende a scriverli perché passino.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749808" y="3076956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f-tester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2615184" y="3040380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8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esegue i test e riporta i numeri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5852160" y="3040380"/>
            <a:ext cx="5623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corregge niente. Il suo esito vale proprio perché non ha modo di cambiarlo.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3511296"/>
            <a:ext cx="11064240" cy="434340"/>
          </a:xfrm>
          <a:prstGeom prst="roundRect">
            <a:avLst>
              <a:gd name="adj" fmla="val 8421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49808" y="356616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f-readability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2615184" y="3529584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8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misura la leggibilità prima e dopo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5852160" y="3529584"/>
            <a:ext cx="5623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riscrive i testi che misura: potrebbe riformularli per alzare il punteggio.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4055364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f-clarity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2615184" y="4018788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8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 che il significato non sia cambiato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5852160" y="4018788"/>
            <a:ext cx="5623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corregge ciò che valuta: un valutatore che può sistemare segnala solo quello che sa sistemare.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66928" y="4489704"/>
            <a:ext cx="11064240" cy="434340"/>
          </a:xfrm>
          <a:prstGeom prst="roundRect">
            <a:avLst>
              <a:gd name="adj" fmla="val 8421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49808" y="4544568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f-critic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2615184" y="4507992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8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valuta contro rubriche esplicite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5852160" y="4507992"/>
            <a:ext cx="5623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propone soluzioni: ogni giudizio deve citare il criterio su cui si basa.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749808" y="5033772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f-devil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2615184" y="499719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8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cerca il fraintendimento possibile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5852160" y="4997196"/>
            <a:ext cx="5623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risolve: mostra la conclusione sbagliata che la persona trarrebbe da un testo formalmente corretto.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66928" y="5468112"/>
            <a:ext cx="11064240" cy="434340"/>
          </a:xfrm>
          <a:prstGeom prst="roundRect">
            <a:avLst>
              <a:gd name="adj" fmla="val 8421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49808" y="5522976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/f-orc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2615184" y="5486400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8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coordina, instrada, tiene lo stato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5852160" y="5486400"/>
            <a:ext cx="5623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produce i deliverable: se li scrivesse, chi coordina e chi esegue sarebbero la stessa cosa.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566928" y="5989320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permessi non sono una convenzione fra noi: stanno nella configurazione del sistema e un controllo automatico li applica a ogni scrittura, con il motivo allegato al divieto.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46304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43C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L'ARGOMENTO SULL'ARCHITETTURA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Ogni deliverable ha un proprietario e un verificatore.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152144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17323A"/>
          </a:solidFill>
          <a:ln w="12700">
            <a:solidFill>
              <a:srgbClr val="17323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252728"/>
            <a:ext cx="10607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nomi con la f sono i ruoli interni del sistema: agenti distinti dentro Flèche, non persone e non servizi esterni.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66928" y="1773936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0D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04672" y="1975104"/>
            <a:ext cx="548640" cy="548640"/>
          </a:xfrm>
          <a:prstGeom prst="ellipse">
            <a:avLst/>
          </a:prstGeom>
          <a:solidFill>
            <a:srgbClr val="17323A"/>
          </a:solidFill>
          <a:ln w="12700">
            <a:solidFill>
              <a:srgbClr val="17323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04672" y="197510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0B4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536192" y="1892808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User Difficulty Statement</a:t>
            </a:r>
            <a:endParaRPr lang="en-US" sz="13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2F8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proprietario: f-analyst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B55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verificato da: f-critic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715000" y="1956816"/>
            <a:ext cx="5715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review passa una rubrica esplicita: lo scenario è uno solo? ogni criterio è verificabile con un test? la capability software è identificabile?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2807208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04672" y="3008376"/>
            <a:ext cx="548640" cy="548640"/>
          </a:xfrm>
          <a:prstGeom prst="ellipse">
            <a:avLst/>
          </a:prstGeom>
          <a:solidFill>
            <a:srgbClr val="17323A"/>
          </a:solidFill>
          <a:ln w="12700">
            <a:solidFill>
              <a:srgbClr val="17323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04672" y="300837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0B4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536192" y="2926080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/ After Simplicity</a:t>
            </a:r>
            <a:endParaRPr lang="en-US" sz="13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2F8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proprietario: f-readability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B55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verificato da: l'indice Gulpease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715000" y="2990088"/>
            <a:ext cx="5715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il verificatore non è un ruolo ma una misura esterna: un numero che chiunque riottiene applicando la stessa formula agli stessi testi.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384048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0D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4672" y="4041648"/>
            <a:ext cx="548640" cy="548640"/>
          </a:xfrm>
          <a:prstGeom prst="ellipse">
            <a:avLst/>
          </a:prstGeom>
          <a:solidFill>
            <a:srgbClr val="17323A"/>
          </a:solidFill>
          <a:ln w="12700">
            <a:solidFill>
              <a:srgbClr val="17323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04672" y="40416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0B4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536192" y="3959352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&amp; Clarity Note</a:t>
            </a:r>
            <a:endParaRPr lang="en-US" sz="13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2F8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proprietario: f-clarity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B55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verificato da: f-devil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715000" y="4023360"/>
            <a:ext cx="5715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f-devil legge la versione semplificata senza l'originale davanti e scrive le conclusioni sbagliate che ne trarrebbe. Poi le confronta.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4919472"/>
            <a:ext cx="11064240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43C3A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2960" y="5047488"/>
            <a:ext cx="106070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cos'è l'indice Gulpease, e da dove viene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l'abbiamo inventato noi. È una formula di leggibilità pubblicata nel 1988 da Pietro Lucisano e Maria Emanuela Piemontese, del Gruppo Universitario Linguistico Pedagogico della Sapienza, ed è costruita sull'italiano: conta lettere, parole e frasi invece delle sillabe, come fanno gli indici tarati sull'inglese. Il nostro prima/dopo è quindi confrontabile con quello di chiunque altro.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2F8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100–80 licenza elementare   ·   80–60 licenza media   ·   60–40 diploma superiore   ·   sotto 40 difficile per la maggior parte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6272784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produce non verifica, e chi verifica non ha il permesso di correggere. È l'unico modo perché un rilievo significhi qualcosa.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46304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FLUSSO DI LAVORO TIPO · PASSO 0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84048"/>
            <a:ext cx="8595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richiesta entra da /f-orc.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43584"/>
            <a:ext cx="11064240" cy="841248"/>
          </a:xfrm>
          <a:prstGeom prst="roundRect">
            <a:avLst>
              <a:gd name="adj" fmla="val 6522"/>
            </a:avLst>
          </a:prstGeom>
          <a:solidFill>
            <a:srgbClr val="0A1512"/>
          </a:solidFill>
          <a:ln w="12700">
            <a:solidFill>
              <a:srgbClr val="27403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362456"/>
            <a:ext cx="10735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93AD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claude --plugin-dir Fleche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F0B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/f-orc realizza lo scenario sul tema Inclusione Finanziaria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2249424"/>
            <a:ext cx="5486400" cy="3566160"/>
          </a:xfrm>
          <a:prstGeom prst="roundRect">
            <a:avLst>
              <a:gd name="adj" fmla="val 2051"/>
            </a:avLst>
          </a:prstGeom>
          <a:solidFill>
            <a:srgbClr val="152420"/>
          </a:solidFill>
          <a:ln w="12700">
            <a:solidFill>
              <a:srgbClr val="2B453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414016"/>
            <a:ext cx="4983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F0B4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Cosa fa prima di dispatchare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 che lo scenario sia UNO solo. La challenge lo impone, e con dieci ore-persona due scenari significa che nessuno dei due diventa dimostrabile.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la richiesta è vaga, non scegliere: chiedere. Presenta i cinque scenari ammessi con una nota su quale abbia la capability software più innegabile.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 docs/pipeline/stato.md: passo, agente, esito, artefatto, token. Aggiornato a ogni passaggio.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 via Task all'agente competente. Non implementa e non valuta: scrive solo in docs/pipeline/.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36208" y="2249424"/>
            <a:ext cx="5394960" cy="1700784"/>
          </a:xfrm>
          <a:prstGeom prst="roundRect">
            <a:avLst>
              <a:gd name="adj" fmla="val 4301"/>
            </a:avLst>
          </a:prstGeom>
          <a:solidFill>
            <a:srgbClr val="0A1512"/>
          </a:solidFill>
          <a:ln w="12700">
            <a:solidFill>
              <a:srgbClr val="F0B42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73952" y="2395728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F0B4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è una skill e non un agente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L'orchestratore gira nel thread principale — l'unico contesto che può dispatchare subagent via Task. Un subagent non può dispatchare altri subagent: un f-orc agente non avrebbe potuto fare il suo lavoro.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rgbClr val="93A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 corretto in corsa, dopo che l'operatore ha chiesto perché l'orchestratore fosse un agente.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36208" y="4114800"/>
            <a:ext cx="5394960" cy="1700784"/>
          </a:xfrm>
          <a:prstGeom prst="roundRect">
            <a:avLst>
              <a:gd name="adj" fmla="val 4301"/>
            </a:avLst>
          </a:prstGeom>
          <a:solidFill>
            <a:srgbClr val="152420"/>
          </a:solidFill>
          <a:ln w="12700">
            <a:solidFill>
              <a:srgbClr val="2B453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73952" y="4261104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43C3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Cosa non fa, mai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produce i deliverable. Non corregge il lavoro degli agenti: se f-clarity segnala un'omissione, il compito torna a f-dev.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aggira un blocco. Se un guardrail ferma una richiesta, quella richiesta era fuori perimetro — e il blocco è l'evidenza che usa il deliverable 03.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623620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3A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 registrata in stato.md: «scenario unico confermato dall'operatore: costi ricorrenti → mesi di libertà».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46304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43C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VERIFICA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Progettati prima del codice, e ognuno cita il criterio.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225296"/>
            <a:ext cx="5349240" cy="1810512"/>
          </a:xfrm>
          <a:prstGeom prst="roundRect">
            <a:avLst>
              <a:gd name="adj" fmla="val 4040"/>
            </a:avLst>
          </a:prstGeom>
          <a:solidFill>
            <a:srgbClr val="17323A"/>
          </a:solidFill>
          <a:ln w="12700">
            <a:solidFill>
              <a:srgbClr val="17323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1389888"/>
            <a:ext cx="4892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F0B4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progettarli prima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l'unica condizione in cui un test verifica il requisito invece del codice: chi scrive un test conoscendo la funzione produce un test che conferma quella funzione.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43C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Conseguenza pratica: se per progettare un caso serve sapere come sarà implementato, il caso è mal formulato.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281928" y="1225296"/>
            <a:ext cx="5349240" cy="1810512"/>
          </a:xfrm>
          <a:prstGeom prst="roundRect">
            <a:avLst>
              <a:gd name="adj" fmla="val 4040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19672" y="1389888"/>
            <a:ext cx="4892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scorciatoia che dichiariamo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ruolo dedicato alla progettazione dei test esiste nel sistema ma non è stato invocato: per tempo, lo sviluppo ha scritto i test insieme al codice.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i="1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Dirlo è più solido che nasconderlo, ed è la stessa sezione dello stato in cui è registrato chi ha deciso cosa.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3200400"/>
            <a:ext cx="6903720" cy="1975104"/>
          </a:xfrm>
          <a:prstGeom prst="roundRect">
            <a:avLst>
              <a:gd name="adj" fmla="val 2778"/>
            </a:avLst>
          </a:prstGeom>
          <a:solidFill>
            <a:srgbClr val="0A1512"/>
          </a:solidFill>
          <a:ln w="12700">
            <a:solidFill>
              <a:srgbClr val="2740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3319272"/>
            <a:ext cx="657453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93AD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ogni test porta nel nome il criterio che verifica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4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0B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test('D1: un taglio da 12 €/mese → 11 mesi guadagnati (±1)')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4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test('D5: con risparmio a zero si passa ai giorni di stipendio')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4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test('D7: le 8 domande di consiglio sono tutte intercettate')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4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test('D8: le parole proibite non compaiono nella risposta')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4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test('D18: nessun numero a schermo mostra artefatti di calcolo')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4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93AD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valori attesi dichiarati in testa alla suite:  4.500 = 1.500 × 3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699248" y="3200400"/>
            <a:ext cx="3931920" cy="603504"/>
          </a:xfrm>
          <a:prstGeom prst="roundRect">
            <a:avLst>
              <a:gd name="adj" fmla="val 12121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82128" y="3255264"/>
            <a:ext cx="1097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43C3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9070848" y="32918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automatici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 sul calcolo + 2 sull'interfaccia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699248" y="3895344"/>
            <a:ext cx="3931920" cy="603504"/>
          </a:xfrm>
          <a:prstGeom prst="roundRect">
            <a:avLst>
              <a:gd name="adj" fmla="val 12121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882128" y="3950208"/>
            <a:ext cx="1097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43C3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9070848" y="3986784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gruppi di verifica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 per criterio o requisito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699248" y="4590288"/>
            <a:ext cx="3931920" cy="603504"/>
          </a:xfrm>
          <a:prstGeom prst="roundRect">
            <a:avLst>
              <a:gd name="adj" fmla="val 12121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882128" y="4645152"/>
            <a:ext cx="1097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43C3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18+8</a:t>
            </a:r>
            <a:endParaRPr lang="en-US" sz="2100" dirty="0"/>
          </a:p>
        </p:txBody>
      </p:sp>
      <p:sp>
        <p:nvSpPr>
          <p:cNvPr id="18" name="Text 16"/>
          <p:cNvSpPr txBox="1"/>
          <p:nvPr/>
        </p:nvSpPr>
        <p:spPr>
          <a:xfrm>
            <a:off x="9070848" y="4681728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 tracciati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completamento e regole non negoziabili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66928" y="5340096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7323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5468112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divieto di consulenza è verificato anche nel codice: nessuna funzione che ordini opzioni per convenienza, nessun messaggio che suggerisca una scelta, nessun valore predefinito che orienti la decisione. Tre test cercano quelle forme in tutto il codice consegnato.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6199632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citazione del criterio nel nome del test è una regola imposta allo sviluppo, non una buona abitudine: è ciò che rende calcolabile la mappa della slide seguente.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46304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43C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COSA I TEST COPRONO DAVVERO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84048"/>
            <a:ext cx="11338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Dal criterio dichiarato al test, con un controllo automatico.</a:t>
            </a:r>
            <a:endParaRPr lang="en-US" sz="2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66928" y="1225296"/>
          <a:ext cx="667512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479792" y="1225296"/>
            <a:ext cx="4151376" cy="1280160"/>
          </a:xfrm>
          <a:prstGeom prst="roundRect">
            <a:avLst>
              <a:gd name="adj" fmla="val 5714"/>
            </a:avLst>
          </a:prstGeom>
          <a:solidFill>
            <a:srgbClr val="17323A"/>
          </a:solidFill>
          <a:ln w="12700">
            <a:solidFill>
              <a:srgbClr val="17323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17536" y="1362456"/>
            <a:ext cx="3675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F0B4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 dei 18 criteri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hanno almeno un test che li cita per nome. Il conteggio è automatico, non una lettura: chiunque lo rifà in un secondo.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7479792" y="2633472"/>
            <a:ext cx="4151376" cy="1280160"/>
          </a:xfrm>
          <a:prstGeom prst="roundRect">
            <a:avLst>
              <a:gd name="adj" fmla="val 5714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17536" y="2770632"/>
            <a:ext cx="3675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7 restanti sono di interfaccia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Struttura delle pagine e accessibilità: verificati dai due test sull'interfaccia e a mano. Detto, non nascosto in un totale.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479792" y="4041648"/>
            <a:ext cx="4151376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B5502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17536" y="4178808"/>
            <a:ext cx="3675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B55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Cosa ha trovato il controllo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criteri sono stati rinumerati quando la specifica è passata alla versione 4.1. Il controllo riporta il collegamento rotto invece di dare un verde di comodo.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66928" y="5431536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17323A"/>
          </a:solidFill>
          <a:ln w="12700">
            <a:solidFill>
              <a:srgbClr val="17323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" y="555040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criterio senza test non è un criterio: è un'intenzione.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controllo dichiara il proprio limite: verifica che un test citi il criterio, non che lo eserciti. E si ferma dopo due iterazioni: un ciclo che non converge consuma il tempo dei deliverable.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623620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grafico conta i test per criterio sul codice consegnato: D1, i valori attesi del motore di calcolo, ne ha 29 da solo.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46304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43C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L'ITERAZIONE · I TEST NEL TEMPO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84048"/>
            <a:ext cx="11338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test si rieseguono a ogni iterazione, e crescono con la feature.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749808" y="120700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iterazione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697480" y="1207008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cosa è cambiato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903720" y="120700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046720" y="12070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esito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9692640" y="120700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66928" y="1517904"/>
            <a:ext cx="11064240" cy="603504"/>
          </a:xfrm>
          <a:prstGeom prst="roundRect">
            <a:avLst>
              <a:gd name="adj" fmla="val 6061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49808" y="1591056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f-dev v1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1554480"/>
            <a:ext cx="4069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 implementazione sulla spec v1: fixture calcolati su parametri poi superati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903720" y="1591056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046720" y="1554480"/>
            <a:ext cx="1600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55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conforme, scartata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9784080" y="1591056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1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82k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749808" y="224942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f-dev v3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2697480" y="2212848"/>
            <a:ext cx="4069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 v3 completo: engine, guardrail, 5 sezioni, percorso a tappe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903720" y="224942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046720" y="2212848"/>
            <a:ext cx="1600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8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 / 61 verdi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9784080" y="2249424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1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120k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2834640"/>
            <a:ext cx="11064240" cy="603504"/>
          </a:xfrm>
          <a:prstGeom prst="roundRect">
            <a:avLst>
              <a:gd name="adj" fmla="val 6061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49808" y="290779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splash + asset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2697480" y="2871216"/>
            <a:ext cx="4069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SplashScreen e asset Isekai, nessuna modifica all'engine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903720" y="290779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8046720" y="2871216"/>
            <a:ext cx="1600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8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 / 61 verdi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9784080" y="290779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1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28k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749808" y="35661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f-dev v4.1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2697480" y="3529584"/>
            <a:ext cx="4069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di emergenza, capitaleDisponibile, 9 tappe come pagine piene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6903720" y="35661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8046720" y="3529584"/>
            <a:ext cx="1600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 test nuovi, fixture §5.5 riscritti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9784080" y="35661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1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300k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4151376"/>
            <a:ext cx="11064240" cy="603504"/>
          </a:xfrm>
          <a:prstGeom prst="roundRect">
            <a:avLst>
              <a:gd name="adj" fmla="val 6061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49808" y="422452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level-up · T7 · T8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2697480" y="4187952"/>
            <a:ext cx="4069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animazione, doppia curva rischio/rendimento, redesign costo del capitale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6903720" y="422452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8046720" y="4187952"/>
            <a:ext cx="1600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suite invariata, nessuna regressione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9784080" y="422452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1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98k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566928" y="4956048"/>
            <a:ext cx="5422392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17323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04672" y="5084064"/>
            <a:ext cx="4983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regola sull'aggiornamento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test non vengono riscritti per far passare il codice. Quando il brief cambia, cambiano i fixture dichiarati nell'intestazione — e il valore atteso nuovo è ricalcolabile a mano dai parametri.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208776" y="4956048"/>
            <a:ext cx="5422392" cy="1060704"/>
          </a:xfrm>
          <a:prstGeom prst="roundRect">
            <a:avLst>
              <a:gd name="adj" fmla="val 6897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446520" y="5084064"/>
            <a:ext cx="4983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esegue non corregge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f-tester ha Read e Bash, nessun permesso di scrittura: riporta «9 passed, 2 failed» con nome e riga dei falliti, non «il codice sembra solido». Il suo esito vale perché non ha modo di cambiarlo.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566928" y="614476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Esiti 61/61 registrati in docs/pipeline/stato.md ai passi 2b e 2c. Conteggio verificato sul repository consegnato: 78 unitari + 2 widget.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46304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CONTROLLI · OUTPUT REALE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84048"/>
            <a:ext cx="11338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 controlli. Due bloccano, uno avvisa — e non per caso.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07008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· perimetro-sviluppo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99616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55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PreToolUse · BLOCCA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1810512"/>
            <a:ext cx="3520440" cy="1481328"/>
          </a:xfrm>
          <a:prstGeom prst="roundRect">
            <a:avLst>
              <a:gd name="adj" fmla="val 3704"/>
            </a:avLst>
          </a:prstGeom>
          <a:solidFill>
            <a:srgbClr val="0A1512"/>
          </a:solidFill>
          <a:ln w="12700">
            <a:solidFill>
              <a:srgbClr val="4A2A2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929384"/>
            <a:ext cx="319125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93AD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Write  src/../../../etc/passwd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B55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FLÈCHE — SCRITTURA FUORI DAL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B55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PERIMETRO DI SVILUPPO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F4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motivo: fuori dal progetto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93AD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code 2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66928" y="3419856"/>
            <a:ext cx="3520440" cy="1517904"/>
          </a:xfrm>
          <a:prstGeom prst="roundRect">
            <a:avLst>
              <a:gd name="adj" fmla="val 4819"/>
            </a:avLst>
          </a:prstGeom>
          <a:solidFill>
            <a:srgbClr val="152420"/>
          </a:solidFill>
          <a:ln w="12700">
            <a:solidFill>
              <a:srgbClr val="2B453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" y="3566160"/>
            <a:ext cx="3108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93A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percorso è risolto — risalite e symlink inclusi — prima di essere valutato. Un confronto sul solo prefisso lasciava passare tre livelli di risalita: buco trovato e chiuso in corsa.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343400" y="1207008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· capability-guard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343400" y="1499616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55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PreToolUse · BLOCCA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343400" y="1810512"/>
            <a:ext cx="3520440" cy="1481328"/>
          </a:xfrm>
          <a:prstGeom prst="roundRect">
            <a:avLst>
              <a:gd name="adj" fmla="val 3704"/>
            </a:avLst>
          </a:prstGeom>
          <a:solidFill>
            <a:srgbClr val="0A1512"/>
          </a:solidFill>
          <a:ln w="12700">
            <a:solidFill>
              <a:srgbClr val="4A2A2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07992" y="1929384"/>
            <a:ext cx="319125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93AD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f-clarity scrive nel codice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B55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FLÈCHE — SCRITTURA FUORI SCOPE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F4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agente: f-clarity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F4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ambito: solo i propri report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F4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consentito: i report di chiarezza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343400" y="3419856"/>
            <a:ext cx="3520440" cy="1517904"/>
          </a:xfrm>
          <a:prstGeom prst="roundRect">
            <a:avLst>
              <a:gd name="adj" fmla="val 4819"/>
            </a:avLst>
          </a:prstGeom>
          <a:solidFill>
            <a:srgbClr val="152420"/>
          </a:solidFill>
          <a:ln w="12700">
            <a:solidFill>
              <a:srgbClr val="2B453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62856" y="3566160"/>
            <a:ext cx="3108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93A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messaggio di blocco riporta la ragione dichiarata nella configurazione: «se potesse modificare il codice, valuterebbe il proprio lavoro». Il motivo arriva insieme al divieto.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8119872" y="1207008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· codice-non-consiglia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119872" y="1499616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PostToolUse · AVVISA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119872" y="1810512"/>
            <a:ext cx="3520440" cy="1481328"/>
          </a:xfrm>
          <a:prstGeom prst="roundRect">
            <a:avLst>
              <a:gd name="adj" fmla="val 3704"/>
            </a:avLst>
          </a:prstGeom>
          <a:solidFill>
            <a:srgbClr val="0A1512"/>
          </a:solidFill>
          <a:ln w="12700">
            <a:solidFill>
              <a:srgbClr val="5A4A1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84464" y="1929384"/>
            <a:ext cx="319125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93AD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scrittura in una schermata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F0B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POSSIBILE CONSIGLIO NEL CODICE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F4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riga 1 ordinamento_per_conven.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F4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riga 6 etichetta_di_merito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F4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riga 7 suggerimento_esplicito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119872" y="3419856"/>
            <a:ext cx="3520440" cy="1517904"/>
          </a:xfrm>
          <a:prstGeom prst="roundRect">
            <a:avLst>
              <a:gd name="adj" fmla="val 4819"/>
            </a:avLst>
          </a:prstGeom>
          <a:solidFill>
            <a:srgbClr val="152420"/>
          </a:solidFill>
          <a:ln w="12700">
            <a:solidFill>
              <a:srgbClr val="2B453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339328" y="3566160"/>
            <a:ext cx="3108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93A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Avvisa e non blocca perché produce più falsi positivi che falsi negativi: un sort per data somiglia a uno per merito. Un controllo rumoroso che blocca viene disattivato in dieci minuti.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66928" y="5065776"/>
            <a:ext cx="11064240" cy="932688"/>
          </a:xfrm>
          <a:prstGeom prst="roundRect">
            <a:avLst>
              <a:gd name="adj" fmla="val 7843"/>
            </a:avLst>
          </a:prstGeom>
          <a:solidFill>
            <a:srgbClr val="0A1512"/>
          </a:solidFill>
          <a:ln w="12700">
            <a:solidFill>
              <a:srgbClr val="43C3A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2960" y="5193792"/>
            <a:ext cx="10607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43C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L'installatore non si fida di sé stesso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93A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l'installatore rileva l'interprete, scrive la configurazione e poi esegue quattro prove reali — consente, nega, consente, nega. Un controllo che c'è ma non parte non produce nessun segnale: l'azione passa e chi usa il sistema crede di avere protezioni che non ha.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6089904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3A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Tutti gli output di questa slide sono riprodotti eseguendo i controlli sul pacchetto consegnato.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46304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43C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CATENA DI AUDIT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84048"/>
            <a:ext cx="8595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registro è l'evidenza che il controllo era attivo.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49808" y="1225296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3346704" y="122529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937760" y="122529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regola applicata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275320" y="122529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ruolo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9692640" y="122529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bersaglio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66928" y="1536192"/>
            <a:ext cx="11064240" cy="402336"/>
          </a:xfrm>
          <a:prstGeom prst="roundRect">
            <a:avLst>
              <a:gd name="adj" fmla="val 9091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49808" y="15544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73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perimetro di sviluppo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346704" y="15544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 MATCH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937760" y="15544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percorso è dentro il progetto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8275320" y="15544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73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f-dev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0" y="15544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percorso interno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749808" y="20116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73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perimetro di sviluppo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3346704" y="20116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55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BLOCCO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937760" y="20116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risalita al di fuori del progetto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73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f-dev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9692640" y="20116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percorso esterno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66928" y="2450592"/>
            <a:ext cx="11064240" cy="402336"/>
          </a:xfrm>
          <a:prstGeom prst="roundRect">
            <a:avLst>
              <a:gd name="adj" fmla="val 9091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49808" y="24688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73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permessi per ruolo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3346704" y="24688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8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CONSENTITO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4937760" y="24688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ambito: codice e test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275320" y="24688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73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f-dev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9692640" y="2468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codice dell'app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749808" y="29260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73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permessi per ruolo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3346704" y="29260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55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BLOCCO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4937760" y="2926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ambito: solo i propri report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8275320" y="29260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73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f-clarity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9692640" y="29260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codice dell'app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66928" y="3364992"/>
            <a:ext cx="11064240" cy="402336"/>
          </a:xfrm>
          <a:prstGeom prst="roundRect">
            <a:avLst>
              <a:gd name="adj" fmla="val 9091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49808" y="33832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73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il codice consiglia?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3346704" y="33832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6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AVVISO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4937760" y="33832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etichetta di merito, ordinamento per convenienza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8275320" y="33832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73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f-dev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9692640" y="33832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schermata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66928" y="4005072"/>
            <a:ext cx="3520440" cy="1737360"/>
          </a:xfrm>
          <a:prstGeom prst="roundRect">
            <a:avLst>
              <a:gd name="adj" fmla="val 4211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04672" y="4151376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registrare anche i casi consentiti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Distinguono «il controllo ha valutato e non ha trovato nulla» da «il controllo non è partito». Senza quella differenza la Risk &amp; Clarity Note non potrebbe affermare che il controllo era attivo: potrebbe solo dire che nessuno l'ha visto intervenire.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343400" y="4005072"/>
            <a:ext cx="3520440" cy="1737360"/>
          </a:xfrm>
          <a:prstGeom prst="roundRect">
            <a:avLst>
              <a:gd name="adj" fmla="val 4211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581144" y="4151376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le richieste non sono in chiaro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ogni richiesta si registrano lunghezza e impronta, mai il contenuto. Possono contenere dati finanziari personali, e un sistema che protegge la persona e poi ne archivia i dati nel proprio registro protegge male.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8119872" y="4005072"/>
            <a:ext cx="352044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B5502F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357616" y="4151376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Cosa il controllo non fa, e va detto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fida dell'identità che il ruolo dichiara: non la verifica. Se l'identità non risolve, applica un profilo di ripiego e lo registra come non risolta. In un sistema non presidiato la scelta sarebbe opposta: negare tutto.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566928" y="588873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Cinque record reali, resi leggibili. Ogni limite del sistema è scritto nel sistema stesso, accanto al meccanismo che limita: non è modestia, è ciò che rende il registro leggibile a chi non l'ha costruito.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46304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43C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 02 · BEFORE / AFTER SIMPLICITY EVIDENCE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84048"/>
            <a:ext cx="8595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misura, non un confronto affiancato.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25296"/>
            <a:ext cx="5422392" cy="1975104"/>
          </a:xfrm>
          <a:prstGeom prst="roundRect">
            <a:avLst>
              <a:gd name="adj" fmla="val 3704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1353312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— comunicazione ISC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1682496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«L'Indicatore Sintetico dei Costi (ISC) del comparto, calcolato su un orizzonte temporale di 10 anni, è pari a 1,45%.»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670048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55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Gulpease 60,1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parole in una frase sola · 4,5 lettere per parola · sul confine con «diploma superiore»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08776" y="1225296"/>
            <a:ext cx="5422392" cy="1975104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9050">
            <a:solidFill>
              <a:srgbClr val="43C3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46520" y="1353312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F8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— generato dall'app sui dati dell'utente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446520" y="1682496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«Questo comparto trattiene ogni anno circa l'1,45% di quello che hai dentro. Sui 12.000 € che hai accantonato, quest'anno sono circa 174 €. Non li vedi uscire… in 10 anni circa 4.550 €, circa 15 mesi del tuo risparmio. La decisione resta tua.»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2670048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8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Gulpease 71,8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126 parole in 10 frasi · 4,1 lettere per parola · +11,7 punti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3364992"/>
            <a:ext cx="5486400" cy="1371600"/>
          </a:xfrm>
          <a:prstGeom prst="roundRect">
            <a:avLst>
              <a:gd name="adj" fmla="val 4000"/>
            </a:avLst>
          </a:prstGeom>
          <a:solidFill>
            <a:srgbClr val="0A1512"/>
          </a:solidFill>
          <a:ln w="12700">
            <a:solidFill>
              <a:srgbClr val="27403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483864"/>
            <a:ext cx="515721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F0B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python3 tools/gulpease.py before.txt after.txt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4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prima: Gulpease 60.1 — licenza media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4F1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dopo:  Gulpease 71.8 — licenza media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43C3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delta: +11.7 punti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236208" y="3364992"/>
            <a:ext cx="5394960" cy="1371600"/>
          </a:xfrm>
          <a:prstGeom prst="roundRect">
            <a:avLst>
              <a:gd name="adj" fmla="val 5333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73952" y="3511296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secondo esempio è quello istruttivo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«Abbonamento streaming — 11,99 € — addebito ricorrente mensile» partiva già a 72,3: parole corte, nessuna frase. Il rifacimento guadagna solo +1,7 punti. Era leggibile e non diceva nulla — e Gulpease non sa vedere la differenza.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4882896"/>
            <a:ext cx="11064240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B5502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5010912"/>
            <a:ext cx="106070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B55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limite della metrica, dichiarato nel report stesso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Gulpease misura la forma, non la comprensibilità: accorciare una frase omettendo una condizione alza l'indice e peggiora il documento. Il segnale d'allarme è un calo di parole insieme a un salto di punteggio. Qui accade l'opposto — +564% e +956% di parole — e il rischio reale è simmetrico: i testi nuovi introducono numeri e ipotesi che devono essere accurati. Quella verifica è del deliverable 03.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6108192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docs/clarity/gulpease.md — f-readability misura e non riscrive: se potesse modificare i testi per alzare il punteggio, la misura non significherebbe niente.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46304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43C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 03 · RISK &amp; CLARITY NOTE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84048"/>
            <a:ext cx="8595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Dimostrare che qualcosa non è cambiato.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188720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Elencare cosa si è semplificato è facile. La seconda domanda è quella che quasi tutti sbagliano: si risponde solo confrontando originale e versione semplificata voce per voce.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86384" y="162763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elemento dell'originale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3840480" y="162763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 nel semplificato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035040" y="162763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alterato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7543800" y="162763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66928" y="1920240"/>
            <a:ext cx="11064240" cy="530352"/>
          </a:xfrm>
          <a:prstGeom prst="roundRect">
            <a:avLst>
              <a:gd name="adj" fmla="val 6897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86384" y="1956816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«ISC» / Indicatore Sintetico dei Costi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3840480" y="195681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55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1956816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55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OMISSIONE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7543800" y="1938528"/>
            <a:ext cx="3931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testo usa solo «questo comparto trattiene». L'utente non impara a riconoscere la sigla sul documento vero — e la spec lo dichiarava invariante.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786384" y="254203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«del comparto»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3840480" y="25420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8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sì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035040" y="254203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8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7543800" y="2523744"/>
            <a:ext cx="3931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preservato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66928" y="3090672"/>
            <a:ext cx="11064240" cy="530352"/>
          </a:xfrm>
          <a:prstGeom prst="roundRect">
            <a:avLst>
              <a:gd name="adj" fmla="val 6897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86384" y="312724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«calcolato su 10 anni»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3840480" y="312724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55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parziale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312724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55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SEMANTICA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7543800" y="3108960"/>
            <a:ext cx="3931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nell'originale è l'attributo regolamentare del metodo di calcolo; nel semplificato diventa l'orizzonte scelto dall'utente. Non coincidono.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786384" y="3712464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 1,45%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3840480" y="371246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8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sì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6035040" y="371246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8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7543800" y="3694176"/>
            <a:ext cx="3931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invariato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66928" y="4352544"/>
            <a:ext cx="352044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5E0D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86384" y="4498848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Cosa è stato semplificato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percentuale tradotta in importi e in tempo; la riga piatta dell'addebito diventata spiegazione del doppio effetto; le proiezioni accompagnate dall'ipotesi esplicita.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343400" y="4352544"/>
            <a:ext cx="352044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5E0D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562856" y="4498848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Cosa non è stato alterato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Nessuna soglia modificata, nessuna condizione invertita, nessun numero inventato: ogni cifra aggiunta è tracciata al paragrafo della spec da cui viene. 2 su 4 elementi preservati senza riserve.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110728" y="4352544"/>
            <a:ext cx="3520440" cy="1645920"/>
          </a:xfrm>
          <a:prstGeom prst="roundRect">
            <a:avLst>
              <a:gd name="adj" fmla="val 4444"/>
            </a:avLst>
          </a:prstGeom>
          <a:solidFill>
            <a:srgbClr val="17323A"/>
          </a:solidFill>
          <a:ln w="12700">
            <a:solidFill>
              <a:srgbClr val="17323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330184" y="4498848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0B4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Come l'ambiguità è stata evitata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testo dichiara cosa non dice («non ti dice se il comparto è buono o cattivo»), l'ipotesi del 4% è accanto al risultato e non in nota, e il riferimento teorico a costo zero va etichettato nella stessa schermata — AC-3.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566928" y="623620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rischi aperti, 2 di gravità media, nessuna mitigazione automatica per 2 di essi. f-clarity li ha trovati nel nostro lavoro e non ha potuto correggerli: è il motivo per cui il rilievo è credibile.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46304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CINQUE ORE, DUE PERSONE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84048"/>
            <a:ext cx="8595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Cosa esiste a fine pipeline.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3520440" cy="1920240"/>
          </a:xfrm>
          <a:prstGeom prst="roundRect">
            <a:avLst>
              <a:gd name="adj" fmla="val 3810"/>
            </a:avLst>
          </a:prstGeom>
          <a:solidFill>
            <a:srgbClr val="152420"/>
          </a:solidFill>
          <a:ln w="12700">
            <a:solidFill>
              <a:srgbClr val="2B45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517904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7.435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22576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3C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righe di codice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6517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schermate e un motore di calcolo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43400" y="1335024"/>
            <a:ext cx="3520440" cy="1920240"/>
          </a:xfrm>
          <a:prstGeom prst="roundRect">
            <a:avLst>
              <a:gd name="adj" fmla="val 3810"/>
            </a:avLst>
          </a:prstGeom>
          <a:solidFill>
            <a:srgbClr val="152420"/>
          </a:solidFill>
          <a:ln w="12700">
            <a:solidFill>
              <a:srgbClr val="2B453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99432" y="1517904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</a:t>
            </a:r>
            <a:endParaRPr lang="en-US" sz="3800" dirty="0"/>
          </a:p>
        </p:txBody>
      </p:sp>
      <p:sp>
        <p:nvSpPr>
          <p:cNvPr id="10" name="Text 8"/>
          <p:cNvSpPr txBox="1"/>
          <p:nvPr/>
        </p:nvSpPr>
        <p:spPr>
          <a:xfrm>
            <a:off x="4599432" y="2322576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3C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automatici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99432" y="26517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 sul calcolo + 2 sull'interfaccia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119872" y="1335024"/>
            <a:ext cx="3520440" cy="1920240"/>
          </a:xfrm>
          <a:prstGeom prst="roundRect">
            <a:avLst>
              <a:gd name="adj" fmla="val 3810"/>
            </a:avLst>
          </a:prstGeom>
          <a:solidFill>
            <a:srgbClr val="152420"/>
          </a:solidFill>
          <a:ln w="12700">
            <a:solidFill>
              <a:srgbClr val="2B453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75904" y="1517904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3800" dirty="0"/>
          </a:p>
        </p:txBody>
      </p:sp>
      <p:sp>
        <p:nvSpPr>
          <p:cNvPr id="14" name="Text 12"/>
          <p:cNvSpPr txBox="1"/>
          <p:nvPr/>
        </p:nvSpPr>
        <p:spPr>
          <a:xfrm>
            <a:off x="8375904" y="2322576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3C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ruoli interni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375904" y="26517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orchestratore, 3 controlli, 4 misure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3493008"/>
            <a:ext cx="3520440" cy="1920240"/>
          </a:xfrm>
          <a:prstGeom prst="roundRect">
            <a:avLst>
              <a:gd name="adj" fmla="val 3810"/>
            </a:avLst>
          </a:prstGeom>
          <a:solidFill>
            <a:srgbClr val="152420"/>
          </a:solidFill>
          <a:ln w="12700">
            <a:solidFill>
              <a:srgbClr val="2B453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367588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su 3</a:t>
            </a:r>
            <a:endParaRPr lang="en-US" sz="38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48056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3C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80974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scenario, gulpease, risk note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43400" y="3493008"/>
            <a:ext cx="3520440" cy="1920240"/>
          </a:xfrm>
          <a:prstGeom prst="roundRect">
            <a:avLst>
              <a:gd name="adj" fmla="val 3810"/>
            </a:avLst>
          </a:prstGeom>
          <a:solidFill>
            <a:srgbClr val="152420"/>
          </a:solidFill>
          <a:ln w="12700">
            <a:solidFill>
              <a:srgbClr val="2B453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99432" y="367588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4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~700k</a:t>
            </a:r>
            <a:endParaRPr lang="en-US" sz="3800" dirty="0"/>
          </a:p>
        </p:txBody>
      </p:sp>
      <p:sp>
        <p:nvSpPr>
          <p:cNvPr id="22" name="Text 20"/>
          <p:cNvSpPr txBox="1"/>
          <p:nvPr/>
        </p:nvSpPr>
        <p:spPr>
          <a:xfrm>
            <a:off x="4599432" y="448056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3C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di pipeline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599432" y="480974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misurati con budget.py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119872" y="3493008"/>
            <a:ext cx="3520440" cy="1920240"/>
          </a:xfrm>
          <a:prstGeom prst="roundRect">
            <a:avLst>
              <a:gd name="adj" fmla="val 3810"/>
            </a:avLst>
          </a:prstGeom>
          <a:solidFill>
            <a:srgbClr val="152420"/>
          </a:solidFill>
          <a:ln w="12700">
            <a:solidFill>
              <a:srgbClr val="2B453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375904" y="367588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0B4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800" dirty="0"/>
          </a:p>
        </p:txBody>
      </p:sp>
      <p:sp>
        <p:nvSpPr>
          <p:cNvPr id="26" name="Text 24"/>
          <p:cNvSpPr txBox="1"/>
          <p:nvPr/>
        </p:nvSpPr>
        <p:spPr>
          <a:xfrm>
            <a:off x="8375904" y="448056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3C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raccomandazioni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375904" y="480974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output, verificato con grep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5943600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3A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consumo di token non è un vanto: serve ad accorgersi quando un agente rigenera su un input lacunoso. In quel caso si torna al passaggio precedente, non si insiste.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46304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43C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VINCOLI DELLA CHALLENGE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84048"/>
            <a:ext cx="8595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Cosa la challenge chiedeva di evitare, e come.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25296"/>
            <a:ext cx="11064240" cy="877824"/>
          </a:xfrm>
          <a:prstGeom prst="roundRect">
            <a:avLst>
              <a:gd name="adj" fmla="val 8333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481328"/>
            <a:ext cx="365760" cy="365760"/>
          </a:xfrm>
          <a:prstGeom prst="ellipse">
            <a:avLst/>
          </a:prstGeom>
          <a:solidFill>
            <a:srgbClr val="2F8F7A"/>
          </a:solidFill>
          <a:ln w="12700">
            <a:solidFill>
              <a:srgbClr val="2F8F7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1481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353312" y="1335024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 generici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4754880" y="1316736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cuore è un motore di calcolo con 11 funzioni. Il traduttore spiega un risultato che ha già ricevuto: se lo si rimuove, i numeri restano.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2194560"/>
            <a:ext cx="11064240" cy="877824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5E0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4672" y="2450592"/>
            <a:ext cx="365760" cy="365760"/>
          </a:xfrm>
          <a:prstGeom prst="ellipse">
            <a:avLst/>
          </a:prstGeom>
          <a:solidFill>
            <a:srgbClr val="2F8F7A"/>
          </a:solidFill>
          <a:ln w="12700">
            <a:solidFill>
              <a:srgbClr val="2F8F7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04672" y="2450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353312" y="2304288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Riscrittura di testi senza logica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754880" y="2286000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«4.550 €» non è scrivibile a mano: viene da una proiezione sui parametri della persona. Se il sistema potesse essere sostituito da un testo statico, non ci sarebbe capability.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3163824"/>
            <a:ext cx="11064240" cy="877824"/>
          </a:xfrm>
          <a:prstGeom prst="roundRect">
            <a:avLst>
              <a:gd name="adj" fmla="val 8333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4672" y="3419856"/>
            <a:ext cx="365760" cy="365760"/>
          </a:xfrm>
          <a:prstGeom prst="ellipse">
            <a:avLst/>
          </a:prstGeom>
          <a:solidFill>
            <a:srgbClr val="2F8F7A"/>
          </a:solidFill>
          <a:ln w="12700">
            <a:solidFill>
              <a:srgbClr val="2F8F7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04672" y="3419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53312" y="3273552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Consigli finanziari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4754880" y="3255264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Divieto applicato su tre livelli: otto domande di consiglio con risposta fissa, un controllo che segnala le forme di consiglio nel codice, e tre test che le cercano in tutto il codice.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66928" y="4133088"/>
            <a:ext cx="11064240" cy="877824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5E0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04672" y="4389120"/>
            <a:ext cx="365760" cy="365760"/>
          </a:xfrm>
          <a:prstGeom prst="ellipse">
            <a:avLst/>
          </a:prstGeom>
          <a:solidFill>
            <a:srgbClr val="2F8F7A"/>
          </a:solidFill>
          <a:ln w="12700">
            <a:solidFill>
              <a:srgbClr val="2F8F7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04672" y="4389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353312" y="4242816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Semplificazioni che cambiano il significato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4754880" y="4224528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Confronto elemento per elemento su ogni voce, importo, data e condizione — svolto da un agente che non può modificare ciò che valuta.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5102352"/>
            <a:ext cx="11064240" cy="877824"/>
          </a:xfrm>
          <a:prstGeom prst="roundRect">
            <a:avLst>
              <a:gd name="adj" fmla="val 8333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4672" y="5358384"/>
            <a:ext cx="365760" cy="365760"/>
          </a:xfrm>
          <a:prstGeom prst="ellipse">
            <a:avLst/>
          </a:prstGeom>
          <a:solidFill>
            <a:srgbClr val="2F8F7A"/>
          </a:solidFill>
          <a:ln w="12700">
            <a:solidFill>
              <a:srgbClr val="2F8F7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04672" y="53583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353312" y="5212080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non collegate a un processo reale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4754880" y="5193792"/>
            <a:ext cx="6675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scenario è uno: la comunicazione periodica di un fondo pensione e le uscite ricorrenti di un mese. I testi before sono quelli che l'utente riceve.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6163056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Vietato anche a noi: l'orchestratore non aggira un blocco riformulando la richiesta. Se un controllo ferma qualcosa, quella cosa era fuori dal perimetro educativo.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keyvisu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40680" y="384048"/>
            <a:ext cx="6172200" cy="608990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160020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Conoscenza, scelte, libertà.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2542032"/>
            <a:ext cx="4526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L'app non dice a nessuno cosa fare con i propri soldi. Traduce le percentuali in tempo, e restituisce la decisione a chi la deve prendere — con una domanda precisa da fare a chi di dovere.</a:t>
            </a:r>
            <a:endParaRPr lang="en-US" sz="1350" dirty="0"/>
          </a:p>
        </p:txBody>
      </p:sp>
      <p:sp>
        <p:nvSpPr>
          <p:cNvPr id="5" name="Shape 2"/>
          <p:cNvSpPr/>
          <p:nvPr/>
        </p:nvSpPr>
        <p:spPr>
          <a:xfrm>
            <a:off x="566928" y="4041648"/>
            <a:ext cx="4526280" cy="1371600"/>
          </a:xfrm>
          <a:prstGeom prst="roundRect">
            <a:avLst>
              <a:gd name="adj" fmla="val 5333"/>
            </a:avLst>
          </a:prstGeom>
          <a:solidFill>
            <a:srgbClr val="F1F5F3"/>
          </a:solidFill>
          <a:ln w="12700">
            <a:solidFill>
              <a:srgbClr val="F1F5F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04672" y="4206240"/>
            <a:ext cx="4069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Isekai · Mesi di Libertà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Costruita con Flèche in cinque ore.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5C71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Salvatore Scarpato e Marco · Tema 02 Inclusione Finanziaria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Isekai — Mesi di Libertà · Flèche</dc:title>
  <dc:subject>PptxGenJS Presentation</dc:subject>
  <dc:creator>Salvatore Scarpato e Marco</dc:creator>
  <cp:lastModifiedBy>Salvatore Scarpato e Marco</cp:lastModifiedBy>
  <cp:revision>1</cp:revision>
  <dcterms:created xsi:type="dcterms:W3CDTF">2026-09-14T12:54:21Z</dcterms:created>
  <dcterms:modified xsi:type="dcterms:W3CDTF">2026-09-14T12:54:21Z</dcterms:modified>
</cp:coreProperties>
</file>