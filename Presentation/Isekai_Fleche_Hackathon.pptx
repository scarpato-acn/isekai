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72" r:id="rId15"/>
    <p:sldId id="27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per criterio</c:v>
                </c:pt>
              </c:strCache>
            </c:strRef>
          </c:tx>
          <c:spPr>
            <a:solidFill>
              <a:srgbClr val="43C3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C716C"/>
                    </a:solidFill>
                    <a:latin typeface="Calibri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D1 valori del motore</c:v>
                </c:pt>
                <c:pt idx="1">
                  <c:v>D7 domande di consiglio</c:v>
                </c:pt>
                <c:pt idx="2">
                  <c:v>D18 arrotondamenti</c:v>
                </c:pt>
                <c:pt idx="3">
                  <c:v>D5 risparmio a zero</c:v>
                </c:pt>
                <c:pt idx="4">
                  <c:v>D6 crescita a zero</c:v>
                </c:pt>
                <c:pt idx="5">
                  <c:v>D13 dati nelle tappe</c:v>
                </c:pt>
                <c:pt idx="6">
                  <c:v>D2 capitale all'obiettivo</c:v>
                </c:pt>
                <c:pt idx="7">
                  <c:v>D8 parole proibite</c:v>
                </c:pt>
                <c:pt idx="8">
                  <c:v>D3 calcolo ripetibile</c:v>
                </c:pt>
                <c:pt idx="9">
                  <c:v>D9 nessun prodotto citato</c:v>
                </c:pt>
                <c:pt idx="10">
                  <c:v>D16 orizzonte in anni</c:v>
                </c:pt>
                <c:pt idx="11">
                  <c:v>strutturali, senza id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</c:v>
                </c:pt>
                <c:pt idx="1">
                  <c:v>11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90-452E-8FB9-61CC06C0D1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32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"/>
        </c:scaling>
        <c:delete val="0"/>
        <c:axPos val="b"/>
        <c:majorGridlines>
          <c:spPr>
            <a:ln w="1270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1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8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12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Lo scenario scelto è uno solo: capire il costo reale delle uscite ricorrenti e simularne l'impatto in mesi di libertà finanziaria. Il deck ha due metà: il prodotto, poi il sistema agentico che l'ha costruito.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unica sul deliverable 01. A sinistra la difficoltà in tre righe: ognuna ha una difficoltà, un processo e una conseguenza. A destra il meccanismo educativo: la percentuale diventa euro e poi tempo. Il numero finale — 15 mesi — è la sola cosa che la persona ricorda.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challenge vieta la pura riscrittura di testi: qui la capability è l'engine e il percorso che lo riempie con i dati della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pezzi, un solo principio: il calcolo e il linguaggio sono separati. Se si togliesse il traduttore, i numeri resterebbero; se si togliesse il motore, non resterebbe niente da spiegare. È la risposta al divieto della challenge sulla «pura riscrittura di testi».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Seconda metà del deck: il sistema agentico. È il deliverable implicito della challenge — l'agentic coding non è il mezzo per arrivare all'app, è parte di ciò che presentiamo.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punto da sottolineare a voce: l'orchestratore chiede invece di decidere, su scenario, livello di semplificazione e cosa tagliare per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ore per due persone sono dieci ore-persona, e la pipeline stessa consuma tempo. Il taglio di scope è dichiarato, non subito: nello stato c'è scritto chi ha deciso cosa e perché.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vincolo su f-clarity è quello che conta: è la ragione per cui la Risk &amp; Clarity Note vale qualcosa. Se l'agente che valuta la semplificazione potesse correggerla, valuterebbe il proprio lavoro.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slide è la risposta alla domanda «perché nove ruoli e non uno». Sul deliverable 02 il verificatore è una misura pubblicata da terzi: è la forma più forte di verifica, perché non dipende da noi.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mostrare a voce se c'è tempo: i valori attesi stanno in testa alla suite, quindi chiunque ricalcola 4.500 = 1.500 × 3 e confronta, senza fidarsi di noi. È la forma di trasparenza più economica che esista.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chiedono perché non il 100%: i criteri di interfaccia non sono verificabili con test sul calcolo senza costruire un'infrastruttura che in cinque ore non ripaga. La scelta è dichiarata e i criteri scoperti sono nominati uno per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messaggio: la suite non è un artefatto scritto una volta e dimenticato. Cresce con la feature e viene rieseguita a ogni passaggio, e quando il brief cambia si aggiornano i fixture — non le aspettative.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punto forte: la disposizione di ogni controllo — blocca o avvisa — è scelta in base alla direzione dell'errore, non alla gravità percepita.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riga più difendibile è l'ultima: zero raccomandazioni in output, e la verifica è un grep — non un'impressione.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Chiusura. Se resta tempo: mostrare l'app dal vivo partendo dal Percorso, tappa 8 (previdenza e i suoi costi), dove la catena 1,45% → 4.550 € → 15 mesi è visibile in una schermata.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masc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07808" y="1024128"/>
            <a:ext cx="4279392" cy="4526280"/>
          </a:xfrm>
          <a:prstGeom prst="rect">
            <a:avLst/>
          </a:prstGeom>
        </p:spPr>
      </p:pic>
      <p:pic>
        <p:nvPicPr>
          <p:cNvPr id="3" name="Image 1" descr="img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48640"/>
            <a:ext cx="2487168" cy="9966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18745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Mesi di Libertà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Educazione finanziaria che traduce percentuali in tempo.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2186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viaggio oggi, una libertà domani.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66928" y="3913632"/>
            <a:ext cx="6720840" cy="1005840"/>
          </a:xfrm>
          <a:prstGeom prst="roundRect">
            <a:avLst>
              <a:gd name="adj" fmla="val 7273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 txBox="1"/>
          <p:nvPr/>
        </p:nvSpPr>
        <p:spPr>
          <a:xfrm>
            <a:off x="786384" y="407822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Costruita con Flèche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 ruoli interni, un orchestratore, tre controlli automatici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2578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Tema 02 Inclusione Finanziaria   ·   Salvatore Scarpato e Marco Moscariello  ·   14 settembre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01 · USER DIFFICULTY STATEMENT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difficoltà non è la finanza. È la traduzione.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822960" y="131673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Giulia, 32 anni  ·  1.800 € netti  ·  nessuna formazione finanziaria  ·  un fondo pensione che non ha scelto capendolo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751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difficoltà, una sola causa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359152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786384" y="2606040"/>
            <a:ext cx="384048" cy="384048"/>
          </a:xfrm>
          <a:prstGeom prst="ellipse">
            <a:avLst/>
          </a:prstGeom>
          <a:solidFill>
            <a:srgbClr val="43C3A3"/>
          </a:solidFill>
          <a:ln w="12700">
            <a:solidFill>
              <a:srgbClr val="43C3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786384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45973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percentuale non dice se sono molti o pochi soldi.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uno strumento per tradurla, la persona non prova nemmeno a rispondere: il dato passa inosservato ogni anno.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346704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786384" y="3593592"/>
            <a:ext cx="384048" cy="384048"/>
          </a:xfrm>
          <a:prstGeom prst="ellipse">
            <a:avLst/>
          </a:prstGeom>
          <a:solidFill>
            <a:srgbClr val="43C3A3"/>
          </a:solidFill>
          <a:ln w="12700">
            <a:solidFill>
              <a:srgbClr val="43C3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786384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344728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costo non si vede, perché non viene addebitato.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trattenuto prima che il saldo si aggiorni: nessun bonifico, nessuna notifica. Non entra nel budget percepito.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334256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86384" y="4581144"/>
            <a:ext cx="384048" cy="384048"/>
          </a:xfrm>
          <a:prstGeom prst="ellipse">
            <a:avLst/>
          </a:prstGeom>
          <a:solidFill>
            <a:srgbClr val="43C3A3"/>
          </a:solidFill>
          <a:ln w="12700">
            <a:solidFill>
              <a:srgbClr val="43C3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 txBox="1"/>
          <p:nvPr/>
        </p:nvSpPr>
        <p:spPr>
          <a:xfrm>
            <a:off x="786384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443484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numero senza tempo non muove nulla.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«174 € l'anno» resta astratto. Serve un'unità che la persona senta: i mesi di libertà che quel costo le toglie.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19751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stessa cifra, tradotta due volte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44768" y="2359152"/>
            <a:ext cx="5486400" cy="877824"/>
          </a:xfrm>
          <a:prstGeom prst="roundRect">
            <a:avLst>
              <a:gd name="adj" fmla="val 8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 txBox="1"/>
          <p:nvPr/>
        </p:nvSpPr>
        <p:spPr>
          <a:xfrm>
            <a:off x="6364224" y="25237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1,45%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25420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riga sul documento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quello che la persona legge oggi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44768" y="3346704"/>
            <a:ext cx="5486400" cy="877824"/>
          </a:xfrm>
          <a:prstGeom prst="roundRect">
            <a:avLst>
              <a:gd name="adj" fmla="val 8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 txBox="1"/>
          <p:nvPr/>
        </p:nvSpPr>
        <p:spPr>
          <a:xfrm>
            <a:off x="6364224" y="35112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4.550 €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35295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trattenuti in dieci anni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calcolati sui suoi parametri, non su un esempio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44768" y="4334256"/>
            <a:ext cx="5486400" cy="877824"/>
          </a:xfrm>
          <a:prstGeom prst="roundRect">
            <a:avLst>
              <a:gd name="adj" fmla="val 8333"/>
            </a:avLst>
          </a:prstGeom>
          <a:solidFill>
            <a:srgbClr val="17323A"/>
          </a:solidFill>
          <a:ln w="1905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 txBox="1"/>
          <p:nvPr/>
        </p:nvSpPr>
        <p:spPr>
          <a:xfrm>
            <a:off x="6364224" y="4498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mesi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45171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suo risparmio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l'unica risorsa che non si recupera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468112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43C3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 txBox="1"/>
          <p:nvPr/>
        </p:nvSpPr>
        <p:spPr>
          <a:xfrm>
            <a:off x="822960" y="559612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dire: «questo costo trattiene 4.550 € in dieci anni sui tuoi parametri».   NON può dire: «è alto», «ti conviene cambiare», «questo fondo è migliore».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Prima, alla domanda «quanto ti costa l'1,45% in dieci anni su 12.000 €?»: «non lo so». Dopo: indica l'ordine di grandezza e sa da dove viene.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CAPABILITY SOFTWARE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guida che contiene uno strumento.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sezioni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9808" y="1847088"/>
            <a:ext cx="329184" cy="329184"/>
          </a:xfrm>
          <a:prstGeom prst="ellipse">
            <a:avLst/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749808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25296" y="181965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9 tappe in 3 fasi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39572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49808" y="2505456"/>
            <a:ext cx="329184" cy="329184"/>
          </a:xfrm>
          <a:prstGeom prst="ellipse">
            <a:avLst/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749808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247802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Simulatore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doppio effetto di una spesa fissa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749808" y="3163824"/>
            <a:ext cx="329184" cy="329184"/>
          </a:xfrm>
          <a:prstGeom prst="ellipse">
            <a:avLst/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 txBox="1"/>
          <p:nvPr/>
        </p:nvSpPr>
        <p:spPr>
          <a:xfrm>
            <a:off x="749808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3136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Uscite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caccia alle uscite invisibili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712464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749808" y="3822192"/>
            <a:ext cx="329184" cy="329184"/>
          </a:xfrm>
          <a:prstGeom prst="ellipse">
            <a:avLst/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 txBox="1"/>
          <p:nvPr/>
        </p:nvSpPr>
        <p:spPr>
          <a:xfrm>
            <a:off x="749808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25296" y="3794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proiezione tratteggiata vs dati reali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370832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749808" y="4480560"/>
            <a:ext cx="329184" cy="329184"/>
          </a:xfrm>
          <a:prstGeom prst="ellipse">
            <a:avLst/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 txBox="1"/>
          <p:nvPr/>
        </p:nvSpPr>
        <p:spPr>
          <a:xfrm>
            <a:off x="749808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25296" y="4453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parametri che alimentano tutto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144768" y="12070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tappe, 4 pilastri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44768" y="1737360"/>
            <a:ext cx="5486400" cy="1042416"/>
          </a:xfrm>
          <a:prstGeom prst="roundRect">
            <a:avLst>
              <a:gd name="adj" fmla="val 7018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6345936" y="1938528"/>
            <a:ext cx="182880" cy="182880"/>
          </a:xfrm>
          <a:prstGeom prst="ellipse">
            <a:avLst/>
          </a:prstGeom>
          <a:solidFill>
            <a:srgbClr val="43C3A3"/>
          </a:solidFill>
          <a:ln w="12700">
            <a:solidFill>
              <a:srgbClr val="43C3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 txBox="1"/>
          <p:nvPr/>
        </p:nvSpPr>
        <p:spPr>
          <a:xfrm>
            <a:off x="6638544" y="18562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MESE 1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del budget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fisse o variabili · 2 il tuo tasso di risparmio · 3 registra un mese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44768" y="2889504"/>
            <a:ext cx="5486400" cy="1042416"/>
          </a:xfrm>
          <a:prstGeom prst="roundRect">
            <a:avLst>
              <a:gd name="adj" fmla="val 7018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6345936" y="3090672"/>
            <a:ext cx="182880" cy="182880"/>
          </a:xfrm>
          <a:prstGeom prst="ellipse">
            <a:avLst/>
          </a:prstGeom>
          <a:solidFill>
            <a:srgbClr val="2F8F7A"/>
          </a:solidFill>
          <a:ln w="12700">
            <a:solidFill>
              <a:srgbClr val="2F8F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 txBox="1"/>
          <p:nvPr/>
        </p:nvSpPr>
        <p:spPr>
          <a:xfrm>
            <a:off x="6638544" y="300837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MESI 2–6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di emergenza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perché tre mesi · 5 i costi che non vedi · 6 interesse composto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44768" y="4041648"/>
            <a:ext cx="5486400" cy="1042416"/>
          </a:xfrm>
          <a:prstGeom prst="roundRect">
            <a:avLst>
              <a:gd name="adj" fmla="val 7018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6345936" y="4242816"/>
            <a:ext cx="182880" cy="1828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 txBox="1"/>
          <p:nvPr/>
        </p:nvSpPr>
        <p:spPr>
          <a:xfrm>
            <a:off x="6638544" y="4160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8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FUTURO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Rischio, rendimento e previdenza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rischio e rendimento · 8 previdenza e i suoi costi · 9 il tuo orizzonte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5230368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5E0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 txBox="1"/>
          <p:nvPr/>
        </p:nvSpPr>
        <p:spPr>
          <a:xfrm>
            <a:off x="786384" y="53583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schermata calcola: tutte leggono lo stesso motore. Cambiare un parametro in Profilo aggiorna le altre quattro senza ricaricare.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44768" y="5230368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43C3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 txBox="1"/>
          <p:nvPr/>
        </p:nvSpPr>
        <p:spPr>
          <a:xfrm>
            <a:off x="6364224" y="5358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sottotitolo di tappa contiene un dato reale della persona, calcolato dal motore: «il tuo: 16,7%», «il tuo fondo: 4.500 €», «3 di 7 trovate».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schermate · 7.435 righe di codice · un motore di calcolo con 11 funzioni. Schermata di avvio: Percorso, non il simulatore.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FUNZIONA, IN TRE PEZZI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numeri vengono da un calcolo, non da un modello.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804672" y="1444752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motore di calcolo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prende i parametri, restituisce i numeri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quello che la persona ha dichiarato — reddito, risparmio, capitale, costo — e produce ogni cifra che l'app mostra. Stessi dati, stesso risultato, sempre.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schermata calcola per conto proprio.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69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26280" y="12801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4764024" y="1444752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traduttore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spiega, non calcola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Trasforma il risultato in una frase, al livello di linguaggio scelto fra tre. Ogni cifra che scrive deve già esistere nel risultato che ha ricevuto.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arrotonda, non stima, non aggiunge numeri.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28432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485632" y="1280160"/>
            <a:ext cx="3145536" cy="2286000"/>
          </a:xfrm>
          <a:prstGeom prst="roundRect">
            <a:avLst>
              <a:gd name="adj" fmla="val 3200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8723376" y="1444752"/>
            <a:ext cx="26700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confine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B5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riconosce le richieste di consiglio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domande tipiche — «conviene?», «è caro?», «cosa faresti tu?», «devo disdire?» — vengono riconosciute e ricevono una risposta fissa, scritta a mano.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risposta non passa da un modello: non può scivolare in un consiglio.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73075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822960" y="387705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regola che non si negozia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numeri mostrati alla persona vengono dal motore di calcolo. Nessuna cifra è generata da un modello linguistico: un modello che arrotonda produce numeri non riproducibili, e un numero non riproducibile non è educazione — è un'affermazione da credere.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846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 txBox="1"/>
          <p:nvPr/>
        </p:nvSpPr>
        <p:spPr>
          <a:xfrm>
            <a:off x="868680" y="50109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risposta a «mi conviene cambiare?», parola per parola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«Questo dipende da cose che non conosco e che riguardano solo te: quanto ti serve quel denaro, quando, e quanto ti pesa il rischio. Quello che posso fare è insegnarti a leggere il costo — così la domanda la porti tu, precisa, a chi di dovere. Vuoi che ti mostri quali tre numeri guardare?»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la stessa frase ogni volta: restituisce la decisione alla persona e le propone un momento educativo al posto di un consiglio.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masc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26680" y="1234440"/>
            <a:ext cx="4187952" cy="4434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084832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Flèche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017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agentico che ha costruito l'app.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5844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«abbiamo nove agenti», ma: ogni requisito della challenge ha un agente che lo possiede e un altro che lo verifica.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572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 Claude Code  ·  claude --plugin-dir Fleche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DI LAVORO TIPO · PASSO 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richiesta entra da /f-orc.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0A1512"/>
          </a:solidFill>
          <a:ln w="12700">
            <a:solidFill>
              <a:srgbClr val="2740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731520" y="1362456"/>
            <a:ext cx="1073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--plugin-dir Fleche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/f-orc realizza lo scenario sul tema Inclusione Finanziaria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249424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822960" y="2414016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fa prima di dispatchare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che lo scenario sia UNO solo. La challenge lo impone, e con dieci ore-persona due scenari significa che nessuno dei due diventa dimostrabile.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 richiesta è vaga, non scegliere: chiedere. Presenta i cinque scenari ammessi con una nota su quale abbia la capability software più innegabile.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 docs/pipeline/stato.md: passo, agente, esito, artefatto, token. Aggiornato a ogni passaggio.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via Task all'agente competente. Non implementa e non valuta: scrive solo in docs/pipeline/.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6208" y="2249424"/>
            <a:ext cx="5394960" cy="1700784"/>
          </a:xfrm>
          <a:prstGeom prst="roundRect">
            <a:avLst>
              <a:gd name="adj" fmla="val 4301"/>
            </a:avLst>
          </a:prstGeom>
          <a:solidFill>
            <a:srgbClr val="0A1512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6473952" y="239572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è una skill e non un agente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L'orchestratore gira nel thread principale — l'unico contesto che può dispatchare subagent via Task. Un subagent non può dispatchare altri subagent: un f-orc agente non avrebbe potuto fare il suo lavoro.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corretto in corsa, dopo che l'operatore ha chiesto perché l'orchestratore fosse un agente.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6208" y="4114800"/>
            <a:ext cx="5394960" cy="1700784"/>
          </a:xfrm>
          <a:prstGeom prst="roundRect">
            <a:avLst>
              <a:gd name="adj" fmla="val 4301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6473952" y="4261104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43C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non fa, mai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produce i deliverable. Non corregge il lavoro degli agenti: se f-clarity segnala un'omissione, il compito torna a f-dev.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aggira un blocco. Se un guardrail ferma una richiesta, quella richiesta era fuori perimetro — e il blocco è l'evidenza che usa il deliverable 03.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 registrata in stato.md: «scenario unico confermato dall'operatore: costi ricorrenti → mesi di libertà».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IN UNA PAGINA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fa cosa, e in quale ordine.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2606040" cy="1975104"/>
          </a:xfrm>
          <a:prstGeom prst="roundRect">
            <a:avLst>
              <a:gd name="adj" fmla="val 3704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86384" y="1408176"/>
            <a:ext cx="384048" cy="384048"/>
          </a:xfrm>
          <a:prstGeom prst="ellipse">
            <a:avLst/>
          </a:prstGeom>
          <a:solidFill>
            <a:srgbClr val="43C3A3"/>
          </a:solidFill>
          <a:ln w="12700">
            <a:solidFill>
              <a:srgbClr val="43C3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 txBox="1"/>
          <p:nvPr/>
        </p:nvSpPr>
        <p:spPr>
          <a:xfrm>
            <a:off x="786384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29968" y="14264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1883664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f-analyst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definisce lo scenario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difficoltà precisa e sette criteri che un test può verificare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91256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92424" y="1225296"/>
            <a:ext cx="2606040" cy="1975104"/>
          </a:xfrm>
          <a:prstGeom prst="roundRect">
            <a:avLst>
              <a:gd name="adj" fmla="val 3704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611880" y="1408176"/>
            <a:ext cx="384048" cy="384048"/>
          </a:xfrm>
          <a:prstGeom prst="ellipse">
            <a:avLst/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 txBox="1"/>
          <p:nvPr/>
        </p:nvSpPr>
        <p:spPr>
          <a:xfrm>
            <a:off x="361188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55464" y="14264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202k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1883664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f-dev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costruisce e verifica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motore di calcolo, le dieci schermate e i test che citano i criteri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016752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1225296"/>
            <a:ext cx="2606040" cy="1975104"/>
          </a:xfrm>
          <a:prstGeom prst="roundRect">
            <a:avLst>
              <a:gd name="adj" fmla="val 3704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437376" y="1408176"/>
            <a:ext cx="384048" cy="384048"/>
          </a:xfrm>
          <a:prstGeom prst="ellipse">
            <a:avLst/>
          </a:prstGeom>
          <a:solidFill>
            <a:srgbClr val="2F8F7A"/>
          </a:solidFill>
          <a:ln w="12700">
            <a:solidFill>
              <a:srgbClr val="2F8F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 txBox="1"/>
          <p:nvPr/>
        </p:nvSpPr>
        <p:spPr>
          <a:xfrm>
            <a:off x="6437376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14264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1883664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f-readability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 la chiarezza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leggibilità prima e dopo, con un indice pubblico: +11,7 e +1,7 punti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42248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43416" y="1225296"/>
            <a:ext cx="2606040" cy="1975104"/>
          </a:xfrm>
          <a:prstGeom prst="roundRect">
            <a:avLst>
              <a:gd name="adj" fmla="val 3704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262872" y="1408176"/>
            <a:ext cx="384048" cy="384048"/>
          </a:xfrm>
          <a:prstGeom prst="ellipse">
            <a:avLst/>
          </a:prstGeom>
          <a:solidFill>
            <a:srgbClr val="B5502F"/>
          </a:solidFill>
          <a:ln w="12700">
            <a:solidFill>
              <a:srgbClr val="B5502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 txBox="1"/>
          <p:nvPr/>
        </p:nvSpPr>
        <p:spPr>
          <a:xfrm>
            <a:off x="9262872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06456" y="14264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262872" y="1883664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f-clarity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5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 il significato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voce per voce fra originale e versione semplificata: 3 trovate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3346704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 txBox="1"/>
          <p:nvPr/>
        </p:nvSpPr>
        <p:spPr>
          <a:xfrm>
            <a:off x="804672" y="349300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controllo fra il passo 2 e il 3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automatica che ogni criterio dichiarato abbia un test che lo cita. Se manca, il compito torna allo sviluppo con quel criterio specifico — non con un generico «completa i test». Dopo due iterazioni senza convergenza l'orchestratore si ferma e chiede.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36208" y="3346704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 txBox="1"/>
          <p:nvPr/>
        </p:nvSpPr>
        <p:spPr>
          <a:xfrm>
            <a:off x="6473952" y="349300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ruoli su nove non sono stati invocati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Progettazione dei test, esecuzione indipendente, review contro rubrica e avvocato del diavolo: saltati per tempo, con priorità ai tre deliverable. La decisione è dell'operatore e sta scritta nello stato della pipeline, con il nome di chi l'ha presa.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4956048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5E0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 txBox="1"/>
          <p:nvPr/>
        </p:nvSpPr>
        <p:spPr>
          <a:xfrm>
            <a:off x="768096" y="504748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3C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1527048" y="5102352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ruoli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ognuno con permessi distinti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92424" y="4956048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5E0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 txBox="1"/>
          <p:nvPr/>
        </p:nvSpPr>
        <p:spPr>
          <a:xfrm>
            <a:off x="3593592" y="504748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3C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4352544" y="5102352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orchestratore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e non esegue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4956048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5E0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 txBox="1"/>
          <p:nvPr/>
        </p:nvSpPr>
        <p:spPr>
          <a:xfrm>
            <a:off x="6419088" y="504748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3C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5102352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 automatici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bloccano, uno avvisa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43416" y="4956048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5E0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 txBox="1"/>
          <p:nvPr/>
        </p:nvSpPr>
        <p:spPr>
          <a:xfrm>
            <a:off x="9244584" y="504748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3C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2" name="Text 40"/>
          <p:cNvSpPr txBox="1"/>
          <p:nvPr/>
        </p:nvSpPr>
        <p:spPr>
          <a:xfrm>
            <a:off x="10003536" y="5102352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 di misura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 riproducibili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~700k token sull'intera pipeline. Il criterio di successo è «i tre deliverable esistono e la demo funziona», non «tutti i ruoli hanno contribuito».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NOVE RUOLI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ruolo esiste perché separa una responsabilità.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225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 interno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615184" y="12252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fa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225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cosa non fa, con la sua ragione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11064240" cy="434340"/>
          </a:xfrm>
          <a:prstGeom prst="roundRect">
            <a:avLst>
              <a:gd name="adj" fmla="val 8421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749808" y="160934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f-analyst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15184" y="15727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definisce lo scenario e i criteri verificabili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572768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implementa: se scrivesse la soluzione, specifica e codice convergerebbero e nessuno verificherebbe che il secondo soddisfi la prima.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0985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f-dev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15184" y="20619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costruisce l'app e scrive i test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061972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modifica la specifica: adattare il requisito a ciò che è stato scritto è la direzione sbagliata.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532888"/>
            <a:ext cx="11064240" cy="434340"/>
          </a:xfrm>
          <a:prstGeom prst="roundRect">
            <a:avLst>
              <a:gd name="adj" fmla="val 8421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 txBox="1"/>
          <p:nvPr/>
        </p:nvSpPr>
        <p:spPr>
          <a:xfrm>
            <a:off x="749808" y="25877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f-test-design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615184" y="25511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 i casi di test prima del codice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2551176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può eseguirli: chi progetta i test e ha modo di lanciarli tende a scriverli perché passino.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07695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f-tester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615184" y="30403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esegue i test e riporta i numeri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04038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corregge niente. Il suo esito vale proprio perché non ha modo di cambiarlo.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511296"/>
            <a:ext cx="11064240" cy="434340"/>
          </a:xfrm>
          <a:prstGeom prst="roundRect">
            <a:avLst>
              <a:gd name="adj" fmla="val 8421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 txBox="1"/>
          <p:nvPr/>
        </p:nvSpPr>
        <p:spPr>
          <a:xfrm>
            <a:off x="749808" y="35661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f-readability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15184" y="352958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 la leggibilità prima e dopo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3529584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riscrive i testi che misura: potrebbe riformularli per alzare il punteggio.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05536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f-clarity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615184" y="40187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che il significato non sia cambiato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4018788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corregge ciò che valuta: un valutatore che può sistemare segnala solo quello che sa sistemare.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489704"/>
            <a:ext cx="11064240" cy="434340"/>
          </a:xfrm>
          <a:prstGeom prst="roundRect">
            <a:avLst>
              <a:gd name="adj" fmla="val 8421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 txBox="1"/>
          <p:nvPr/>
        </p:nvSpPr>
        <p:spPr>
          <a:xfrm>
            <a:off x="749808" y="454456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f-critic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615184" y="45079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 contro rubriche esplicite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852160" y="4507992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propone soluzioni: ogni giudizio deve citare il criterio su cui si basa.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49808" y="50337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f-devil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615184" y="499719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il fraintendimento possibile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852160" y="4997196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risolve: mostra la conclusione sbagliata che la persona trarrebbe da un testo formalmente corretto.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5468112"/>
            <a:ext cx="11064240" cy="434340"/>
          </a:xfrm>
          <a:prstGeom prst="roundRect">
            <a:avLst>
              <a:gd name="adj" fmla="val 8421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 txBox="1"/>
          <p:nvPr/>
        </p:nvSpPr>
        <p:spPr>
          <a:xfrm>
            <a:off x="749808" y="552297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/f-orc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615184" y="54864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coordina, instrada, tiene lo stato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548640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produce i deliverable: se li scrivesse, chi coordina e chi esegue sarebbero la stessa cosa.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permessi non sono una convenzione fra noi: stanno nella configurazione del sistema e un controllo automatico li applica a ogni scrittura, con il motivo allegato al divieto.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L'ARGOMENTO SULL'ARCHITETTURA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deliverable ha un proprietario e un verificatore.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822960" y="125272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nomi con la f sono i ruoli interni del sistema: agenti distinti dentro Flèche, non persone e non servizi esterni.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04672" y="1975104"/>
            <a:ext cx="548640" cy="548640"/>
          </a:xfrm>
          <a:prstGeom prst="ellipse">
            <a:avLst/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804672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189280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Difficulty Statement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F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proprietario: f-analyst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B5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verificato da: f-critic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715000" y="1956816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review passa una rubrica esplicita: lo scenario è uno solo? ogni criterio è verificabile con un test? la capability software è identificabile?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804672" y="3008376"/>
            <a:ext cx="548640" cy="548640"/>
          </a:xfrm>
          <a:prstGeom prst="ellipse">
            <a:avLst/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804672" y="3008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36192" y="292608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/ After Simplicity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F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proprietario: f-readability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B5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verificato da: l'indice Gulpease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2990088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il verificatore non è un ruolo ma una misura esterna: un numero che chiunque riottiene applicando la stessa formula agli stessi testi.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840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804672" y="4041648"/>
            <a:ext cx="548640" cy="548640"/>
          </a:xfrm>
          <a:prstGeom prst="ellipse">
            <a:avLst/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 txBox="1"/>
          <p:nvPr/>
        </p:nvSpPr>
        <p:spPr>
          <a:xfrm>
            <a:off x="804672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36192" y="395935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Clarity Note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F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proprietario: f-clarity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B5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verificato da: f-devil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4023360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f-devil legge la versione semplificata senza l'originale davanti e scrive le conclusioni sbagliate che ne trarrebbe. Poi le confronta.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919472"/>
            <a:ext cx="1106424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43C3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 txBox="1"/>
          <p:nvPr/>
        </p:nvSpPr>
        <p:spPr>
          <a:xfrm>
            <a:off x="822960" y="5047488"/>
            <a:ext cx="10607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cos'è l'indice Gulpease, e da dove viene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l'abbiamo inventato noi. È una formula di leggibilità pubblicata nel 1988 da Pietro Lucisano e Maria Emanuela Piemontese, del Gruppo Universitario Linguistico Pedagogico della Sapienza, ed è costruita sull'italiano: conta lettere, parole e frasi invece delle sillabe, come fanno gli indici tarati sull'inglese. Il nostro prima/dopo è quindi confrontabile con quello di chiunque altro.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2F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100–80 licenza elementare   ·   80–60 licenza media   ·   60–40 diploma superiore   ·   sotto 40 difficile per la maggior parte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2727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produce non verifica, e chi verifica non ha il permesso di correggere. È l'unico modo perché un rilievo significhi qualcosa.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Progettati prima del codice, e ognuno cita il criterio.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5349240" cy="1810512"/>
          </a:xfrm>
          <a:prstGeom prst="roundRect">
            <a:avLst>
              <a:gd name="adj" fmla="val 4040"/>
            </a:avLst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804672" y="1389888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progettarli prima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l'unica condizione in cui un test verifica il requisito invece del codice: chi scrive un test conoscendo la funzione produce un test che conferma quella funzione.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 pratica: se per progettare un caso serve sapere come sarà implementato, il caso è mal formulato.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81928" y="1225296"/>
            <a:ext cx="5349240" cy="1810512"/>
          </a:xfrm>
          <a:prstGeom prst="roundRect">
            <a:avLst>
              <a:gd name="adj" fmla="val 4040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6519672" y="1389888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scorciatoia che dichiariamo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ruolo dedicato alla progettazione dei test esiste nel sistema ma non è stato invocato: per tempo, lo sviluppo ha scritto i test insieme al codice.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Dirlo è più solido che nasconderlo, ed è la stessa sezione dello stato in cui è registrato chi ha deciso cosa.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200400"/>
            <a:ext cx="6903720" cy="1975104"/>
          </a:xfrm>
          <a:prstGeom prst="roundRect">
            <a:avLst>
              <a:gd name="adj" fmla="val 2778"/>
            </a:avLst>
          </a:prstGeom>
          <a:solidFill>
            <a:srgbClr val="0A1512"/>
          </a:solidFill>
          <a:ln w="12700">
            <a:solidFill>
              <a:srgbClr val="2740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731520" y="3319272"/>
            <a:ext cx="6574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3A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ogni test porta nel nome il criterio che verifica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test('D1: un taglio da 12 €/mese → 11 mesi guadagnati (±1)')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test('D5: con risparmio a zero si passa ai giorni di stipendio')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test('D7: le 8 domande di consiglio sono tutte intercettate')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test('D8: le parole proibite non compaiono nella risposta')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test('D18: nessun numero a schermo mostra artefatti di calcolo')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3A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valori attesi dichiarati in testa alla suite:  4.500 = 1.500 ×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99248" y="3200400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7882128" y="3255264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3C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9070848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automatici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sul calcolo + 2 sull'interfaccia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99248" y="3895344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7882128" y="395020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3C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070848" y="39867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gruppi di verifica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per criterio o requisito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99248" y="4590288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 txBox="1"/>
          <p:nvPr/>
        </p:nvSpPr>
        <p:spPr>
          <a:xfrm>
            <a:off x="7882128" y="464515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3C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18+8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070848" y="4681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 tracciati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completamento e regole non negoziabili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534009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 txBox="1"/>
          <p:nvPr/>
        </p:nvSpPr>
        <p:spPr>
          <a:xfrm>
            <a:off x="822960" y="546811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divieto di consulenza è verificato anche nel codice: nessuna funzione che ordini opzioni per convenienza, nessun messaggio che suggerisca una scelta, nessun valore predefinito che orienti la decisione. Tre test cercano quelle forme in tutto il codice consegnato.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199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citazione del criterio nel nome del test è una regola imposta allo sviluppo, non una buona abitudine: è ciò che rende calcolabile la mappa della slide seguente.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I TEST COPRONO DAVVERO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criterio dichiarato al test, con un controllo automatico.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225296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79792" y="1225296"/>
            <a:ext cx="4151376" cy="1280160"/>
          </a:xfrm>
          <a:prstGeom prst="roundRect">
            <a:avLst>
              <a:gd name="adj" fmla="val 5714"/>
            </a:avLst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7717536" y="1362456"/>
            <a:ext cx="3675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dei 18 criteri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hanno almeno un test che li cita per nome. Il conteggio è automatico, non una lettura: chiunque lo rifà in un secondo.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79792" y="2633472"/>
            <a:ext cx="4151376" cy="128016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7717536" y="2770632"/>
            <a:ext cx="3675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7 restanti sono di interfaccia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delle pagine e accessibilità: verificati dai due test sull'interfaccia e a mano. Detto, non nascosto in un totale.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79792" y="4041648"/>
            <a:ext cx="415137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502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 txBox="1"/>
          <p:nvPr/>
        </p:nvSpPr>
        <p:spPr>
          <a:xfrm>
            <a:off x="7717536" y="4178808"/>
            <a:ext cx="3675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55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ha trovato il controllo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criteri sono stati rinumerati quando la specifica è passata alla versione 4.1. Il controllo riporta il collegamento rotto invece di dare un verde di comodo.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54315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7323A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 txBox="1"/>
          <p:nvPr/>
        </p:nvSpPr>
        <p:spPr>
          <a:xfrm>
            <a:off x="822960" y="55504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criterio senza test non è un criterio: è un'intenzione.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controllo dichiara il proprio limite: verifica che un test citi il criterio, non che lo eserciti. E si ferma dopo due iterazioni: un ciclo che non converge consuma il tempo dei deliverable.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grafico conta i test per criterio sul codice consegnato: D1, i valori attesi del motore di calcolo, ne ha 29 da solo.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L'ITERAZIONE · I TEST NEL TEMPO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test si rieseguono a ogni iterazione, e crescono con la feature.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207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120700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cambiato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1207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207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692640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11064240" cy="603504"/>
          </a:xfrm>
          <a:prstGeom prst="roundRect">
            <a:avLst>
              <a:gd name="adj" fmla="val 6061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749808" y="15910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f-dev v1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55448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implementazione sulla spec v1: fixture calcolati su parametri poi superati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5910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155448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5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conforme, scartata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784080" y="15910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2249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f-dev v3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21284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v3 completo: engine, guardrail, 5 sezioni, percorso a tappe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2494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21284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61 verdi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784080" y="22494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2834640"/>
            <a:ext cx="11064240" cy="603504"/>
          </a:xfrm>
          <a:prstGeom prst="roundRect">
            <a:avLst>
              <a:gd name="adj" fmla="val 6061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 txBox="1"/>
          <p:nvPr/>
        </p:nvSpPr>
        <p:spPr>
          <a:xfrm>
            <a:off x="749808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splash + asset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97480" y="287121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SplashScreen e asset Isekai, nessuna modifica all'engine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9077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287121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61 verdi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784080" y="29077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28k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f-dev v4.1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697480" y="352958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di emergenza, capitaleDisponibile, 9 tappe come pagine piene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566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352958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 test nuovi, fixture §5.5 riscritti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784080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4151376"/>
            <a:ext cx="11064240" cy="603504"/>
          </a:xfrm>
          <a:prstGeom prst="roundRect">
            <a:avLst>
              <a:gd name="adj" fmla="val 6061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 txBox="1"/>
          <p:nvPr/>
        </p:nvSpPr>
        <p:spPr>
          <a:xfrm>
            <a:off x="749808" y="4224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level-up · T7 · T8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418795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animazione, doppia curva rischio/rendimento, redesign costo del capitale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42245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418795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invariata, nessuna regressione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4224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4956048"/>
            <a:ext cx="5422392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1732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 txBox="1"/>
          <p:nvPr/>
        </p:nvSpPr>
        <p:spPr>
          <a:xfrm>
            <a:off x="804672" y="5084064"/>
            <a:ext cx="4983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regola sull'aggiornamento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test non vengono riscritti per far passare il codice. Quando il brief cambia, cambiano i fixture dichiarati nell'intestazione — e il valore atteso nuovo è ricalcolabile a mano dai parametri.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08776" y="4956048"/>
            <a:ext cx="5422392" cy="1060704"/>
          </a:xfrm>
          <a:prstGeom prst="roundRect">
            <a:avLst>
              <a:gd name="adj" fmla="val 6897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 txBox="1"/>
          <p:nvPr/>
        </p:nvSpPr>
        <p:spPr>
          <a:xfrm>
            <a:off x="6446520" y="5084064"/>
            <a:ext cx="4983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7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esegue non corregge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f-tester ha Read e Bash, nessun permesso di scrittura: riporta «9 passed, 2 failed» con nome e riga dei falliti, non «il codice sembra solido». Il suo esito vale perché non ha modo di cambiarlo.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1447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Esiti 61/61 registrati in docs/pipeline/stato.md ai passi 2b e 2c. Conteggio verificato sul repository consegnato: 78 unitari + 2 widget.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CONTROLLI · OUTPUT REALE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controlli. Due bloccano, uno avvisa — e non per caso.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perimetro-sviluppo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996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5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· BLOCCA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0A1512"/>
          </a:solidFill>
          <a:ln w="12700">
            <a:solidFill>
              <a:srgbClr val="4A2A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731520" y="1929384"/>
            <a:ext cx="31912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3A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Write  src/../../../etc/passwd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5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FLÈCHE — SCRITTURA FUORI DAL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5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PERIMETRO DI SVILUPPO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motivo: fuori dal progetto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3A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code 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3419856"/>
            <a:ext cx="3520440" cy="1517904"/>
          </a:xfrm>
          <a:prstGeom prst="roundRect">
            <a:avLst>
              <a:gd name="adj" fmla="val 4819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786384" y="3566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percorso è risolto — risalite e symlink inclusi — prima di essere valutato. Un confronto sul solo prefisso lasciava passare tre livelli di risalita: buco trovato e chiuso in corsa.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207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capability-guard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4996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5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· BLOCCA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810512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0A1512"/>
          </a:solidFill>
          <a:ln w="12700">
            <a:solidFill>
              <a:srgbClr val="4A2A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4507992" y="1929384"/>
            <a:ext cx="31912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3A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f-clarity scrive nel codice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5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FLÈCHE — SCRITTURA FUORI SCOPE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agente: f-clarity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ambito: solo i propri report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consentito: i report di chiarezza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3419856"/>
            <a:ext cx="3520440" cy="1517904"/>
          </a:xfrm>
          <a:prstGeom prst="roundRect">
            <a:avLst>
              <a:gd name="adj" fmla="val 4819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 txBox="1"/>
          <p:nvPr/>
        </p:nvSpPr>
        <p:spPr>
          <a:xfrm>
            <a:off x="4562856" y="3566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messaggio di blocco riporta la ragione dichiarata nella configurazione: «se potesse modificare il codice, valuterebbe il proprio lavoro». Il motivo arriva insieme al divieto.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119872" y="1207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codice-non-consiglia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19872" y="14996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· AVVISA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19872" y="1810512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0A1512"/>
          </a:solidFill>
          <a:ln w="12700">
            <a:solidFill>
              <a:srgbClr val="5A4A1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 txBox="1"/>
          <p:nvPr/>
        </p:nvSpPr>
        <p:spPr>
          <a:xfrm>
            <a:off x="8284464" y="1929384"/>
            <a:ext cx="31912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3A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scrittura in una schermata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POSSIBILE CONSIGLIO NEL CODICE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riga 1 ordinamento_per_conven.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riga 6 etichetta_di_merito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riga 7 suggerimento_esplicito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19872" y="3419856"/>
            <a:ext cx="3520440" cy="1517904"/>
          </a:xfrm>
          <a:prstGeom prst="roundRect">
            <a:avLst>
              <a:gd name="adj" fmla="val 4819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 txBox="1"/>
          <p:nvPr/>
        </p:nvSpPr>
        <p:spPr>
          <a:xfrm>
            <a:off x="8339328" y="3566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Avvisa e non blocca perché produce più falsi positivi che falsi negativi: un sort per data somiglia a uno per merito. Un controllo rumoroso che blocca viene disattivato in dieci minuti.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506577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0A1512"/>
          </a:solidFill>
          <a:ln w="12700">
            <a:solidFill>
              <a:srgbClr val="43C3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 txBox="1"/>
          <p:nvPr/>
        </p:nvSpPr>
        <p:spPr>
          <a:xfrm>
            <a:off x="822960" y="5193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L'installatore non si fida di sé stesso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l'installatore rileva l'interprete, scrive la configurazione e poi esegue quattro prove reali — consente, nega, consente, nega. Un controllo che c'è ma non parte non produce nessun segnale: l'azione passa e chi usa il sistema crede di avere protezioni che non ha.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08990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gli output di questa slide sono riprodotti eseguendo i controlli sul pacchetto consegnato.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63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ORE, DUE PERSONE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esiste a fine pipeline.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822960" y="151790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7.435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225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di codice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schermate e un motore di calcolo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335024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4599432" y="151790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3225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automatici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sul calcolo + 2 sull'interfaccia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19872" y="1335024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8375904" y="151790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3225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ruoli interni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orchestratore, 3 controlli, 4 misure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93008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 txBox="1"/>
          <p:nvPr/>
        </p:nvSpPr>
        <p:spPr>
          <a:xfrm>
            <a:off x="822960" y="36758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su 3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805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09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scenario, gulpease, risk note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493008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 txBox="1"/>
          <p:nvPr/>
        </p:nvSpPr>
        <p:spPr>
          <a:xfrm>
            <a:off x="4599432" y="36758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~700k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44805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 pipeline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4809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misurati con budget.py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19872" y="3493008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52420"/>
          </a:solidFill>
          <a:ln w="12700">
            <a:solidFill>
              <a:srgbClr val="2B45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 txBox="1"/>
          <p:nvPr/>
        </p:nvSpPr>
        <p:spPr>
          <a:xfrm>
            <a:off x="8375904" y="36758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44805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raccomandazioni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75904" y="4809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output, verificato con grep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consumo di token non è un vanto: serve ad accorgersi quando un agente rigenera su un input lacunoso. In quel caso si torna al passaggio precedente, non si insiste.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keyvisu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40680" y="384048"/>
            <a:ext cx="6172200" cy="60899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600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Conoscenza, scelte, libertà.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542032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non dice a nessuno cosa fare con i propri soldi. Traduce le percentuali in tempo, e restituisce la decisione a chi la deve prendere — con una domanda precisa da fare a chi di dovere.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66928" y="4041648"/>
            <a:ext cx="4526280" cy="1371600"/>
          </a:xfrm>
          <a:prstGeom prst="roundRect">
            <a:avLst>
              <a:gd name="adj" fmla="val 5333"/>
            </a:avLst>
          </a:prstGeom>
          <a:solidFill>
            <a:srgbClr val="F1F5F3"/>
          </a:solidFill>
          <a:ln w="12700">
            <a:solidFill>
              <a:srgbClr val="F1F5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804672" y="420624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7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Isekai · Mesi di Libertà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Costruita con Flèche in cinque ore.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Salvatore Scarpato e Marco · Tema 02 Inclusione Finanziaria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3719</Words>
  <Application>Microsoft Office PowerPoint</Application>
  <PresentationFormat>Widescreen</PresentationFormat>
  <Paragraphs>361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Isekai — Mesi di Libertà · Flèche</dc:title>
  <dc:subject>PptxGenJS Presentation</dc:subject>
  <dc:creator>Salvatore Scarpato e Marco</dc:creator>
  <cp:lastModifiedBy>Moscariello, Marco</cp:lastModifiedBy>
  <cp:revision>2</cp:revision>
  <dcterms:created xsi:type="dcterms:W3CDTF">2026-09-14T12:54:21Z</dcterms:created>
  <dcterms:modified xsi:type="dcterms:W3CDTF">2026-09-14T13:16:42Z</dcterms:modified>
</cp:coreProperties>
</file>