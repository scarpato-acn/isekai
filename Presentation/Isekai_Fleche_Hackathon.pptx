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rts/chart1.xml" ContentType="application/vnd.openxmlformats-officedocument.drawingml.chart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6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4" r:id="rId7"/>
    <p:sldId id="261" r:id="rId8"/>
    <p:sldId id="262" r:id="rId9"/>
    <p:sldId id="263" r:id="rId10"/>
    <p:sldId id="265" r:id="rId11"/>
    <p:sldId id="266" r:id="rId12"/>
    <p:sldId id="267" r:id="rId13"/>
    <p:sldId id="268" r:id="rId14"/>
    <p:sldId id="272" r:id="rId15"/>
    <p:sldId id="275" r:id="rId22"/>
    <p:sldId id="274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96" d="100"/>
          <a:sy n="96" d="100"/>
        </p:scale>
        <p:origin x="6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  <Relationship Id="rId22" Type="http://schemas.openxmlformats.org/officeDocument/2006/relationships/slide" Target="slides/slide16.xml"/>
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test per criterio</c:v>
                </c:pt>
              </c:strCache>
            </c:strRef>
          </c:tx>
          <c:spPr>
            <a:solidFill>
              <a:srgbClr val="43C3A3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5C716C"/>
                    </a:solidFill>
                    <a:latin typeface="Calibri"/>
                  </a:defRPr>
                </a:pPr>
                <a:endParaRPr lang="it-IT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D1 valori del motore</c:v>
                </c:pt>
                <c:pt idx="1">
                  <c:v>D7 domande di consiglio</c:v>
                </c:pt>
                <c:pt idx="2">
                  <c:v>D18 arrotondamenti</c:v>
                </c:pt>
                <c:pt idx="3">
                  <c:v>D5 risparmio a zero</c:v>
                </c:pt>
                <c:pt idx="4">
                  <c:v>D6 crescita a zero</c:v>
                </c:pt>
                <c:pt idx="5">
                  <c:v>D13 dati nelle tappe</c:v>
                </c:pt>
                <c:pt idx="6">
                  <c:v>D2 capitale all'obiettivo</c:v>
                </c:pt>
                <c:pt idx="7">
                  <c:v>D8 parole proibite</c:v>
                </c:pt>
                <c:pt idx="8">
                  <c:v>D3 calcolo ripetibile</c:v>
                </c:pt>
                <c:pt idx="9">
                  <c:v>D9 nessun prodotto citato</c:v>
                </c:pt>
                <c:pt idx="10">
                  <c:v>D16 orizzonte in anni</c:v>
                </c:pt>
                <c:pt idx="11">
                  <c:v>strutturali, senza id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29</c:v>
                </c:pt>
                <c:pt idx="1">
                  <c:v>11</c:v>
                </c:pt>
                <c:pt idx="2">
                  <c:v>6</c:v>
                </c:pt>
                <c:pt idx="3">
                  <c:v>5</c:v>
                </c:pt>
                <c:pt idx="4">
                  <c:v>4</c:v>
                </c:pt>
                <c:pt idx="5">
                  <c:v>4</c:v>
                </c:pt>
                <c:pt idx="6">
                  <c:v>3</c:v>
                </c:pt>
                <c:pt idx="7">
                  <c:v>3</c:v>
                </c:pt>
                <c:pt idx="8">
                  <c:v>2</c:v>
                </c:pt>
                <c:pt idx="9">
                  <c:v>2</c:v>
                </c:pt>
                <c:pt idx="10">
                  <c:v>2</c:v>
                </c:pt>
                <c:pt idx="11">
                  <c:v>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E90-452E-8FB9-61CC06C0D1A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7323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2"/>
        </c:scaling>
        <c:delete val="0"/>
        <c:axPos val="b"/>
        <c:majorGridlines>
          <c:spPr>
            <a:ln w="12700" cap="flat">
              <a:solidFill>
                <a:srgbClr val="E4EB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716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8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241232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Apertura. Lo scenario scelto è uno solo: capire il costo reale delle uscite ricorrenti e simularne l'impatto in mesi di libertà finanziaria. Il deck ha due metà: il prodotto, poi il sistema agentico che l'ha costruito.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unica sul deliverable 01. A sinistra la difficoltà in tre righe: ognuna ha una difficoltà, un processo e una conseguenza. A destra il meccanismo educativo: la percentuale diventa euro e poi tempo. Il numero finale — 15 mesi — è la sola cosa che la persona ricorda.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challenge vieta la pura riscrittura di testi: qui la capability è l'engine e il percorso che lo riempie con i dati della persona.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 pezzi, un solo principio: il calcolo e il linguaggio sono separati. Se si togliesse il traduttore, i numeri resterebbero; se si togliesse il motore, non resterebbe niente da spiegare. È la risposta al divieto della challenge sulla «pura riscrittura di testi».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Seconda metà del deck: il sistema agentico. È il deliverable implicito della challenge — l'agentic coding non è il mezzo per arrivare all'app, è parte di ciò che presentiamo.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punto da sottolineare a voce: l'orchestratore chiede invece di decidere, su scenario, livello di semplificazione e cosa tagliare per tempo.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ore per due persone sono dieci ore-persona, e la pipeline stessa consuma tempo. Il taglio di scope è dichiarato, non subito: nello stato c'è scritto chi ha deciso cosa e perché.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vincolo su f-clarity è quello che conta: è la ragione per cui la Risk &amp; Clarity Note vale qualcosa. Se l'agente che valuta la semplificazione potesse correggerla, valuterebbe il proprio lavoro.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slide è la risposta alla domanda «perché nove ruoli e non uno». Sul deliverable 02 il verificatore è una misura pubblicata da terzi: è la forma più forte di verifica, perché non dipende da noi.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 mostrare a voce se c'è tempo: i valori attesi stanno in testa alla suite, quindi chiunque ricalcola 4.500 = 1.500 × 3 e confronta, senza fidarsi di noi. È la forma di trasparenza più economica che esista.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chiedono perché non il 100%: i criteri di interfaccia non sono verificabili con test sul calcolo senza costruire un'infrastruttura che in cinque ore non ripaga. La scelta è dichiarata e i criteri scoperti sono nominati uno per uno.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messaggio: la suite non è un artefatto scritto una volta e dimenticato. Cresce con la feature e viene rieseguita a ogni passaggio, e quando il brief cambia si aggiornano i fixture — non le aspettative.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punto forte: la disposizione di ogni controllo — blocca o avvisa — è scelta in base alla direzione dell'errore, non alla gravità percepita.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riga più difendibile è l'ultima: zero raccomandazioni in output, e la verifica è un grep — non un'impressione.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Chiusura. Se resta tempo: mostrare l'app dal vivo partendo dal Percorso, tappa 8 (previdenza e i suoi costi), dove la catena 1,45% → 4.550 € → 15 mesi è visibile in una schermata.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7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mascot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607808" y="1024128"/>
            <a:ext cx="4279392" cy="4526280"/>
          </a:xfrm>
          <a:prstGeom prst="rect">
            <a:avLst/>
          </a:prstGeom>
        </p:spPr>
      </p:pic>
      <p:pic>
        <p:nvPicPr>
          <p:cNvPr id="3" name="Image 1" descr="img/logo_l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548640"/>
            <a:ext cx="2487168" cy="9966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66928" y="1874520"/>
            <a:ext cx="7223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4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Mesi di Libertà</a:t>
            </a:r>
            <a:endParaRPr lang="en-US" sz="4400" dirty="0"/>
          </a:p>
        </p:txBody>
      </p:sp>
      <p:sp>
        <p:nvSpPr>
          <p:cNvPr id="5" name="Text 1"/>
          <p:cNvSpPr txBox="1"/>
          <p:nvPr/>
        </p:nvSpPr>
        <p:spPr>
          <a:xfrm>
            <a:off x="566928" y="274320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3C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Educazione finanziaria che traduce percentuali in tempo.</a:t>
            </a:r>
            <a:endParaRPr lang="en-US" sz="1600" dirty="0"/>
          </a:p>
        </p:txBody>
      </p:sp>
      <p:sp>
        <p:nvSpPr>
          <p:cNvPr id="6" name="Text 2"/>
          <p:cNvSpPr txBox="1"/>
          <p:nvPr/>
        </p:nvSpPr>
        <p:spPr>
          <a:xfrm>
            <a:off x="566928" y="3218688"/>
            <a:ext cx="6949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F0B4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viaggio oggi, una libertà domani.</a:t>
            </a:r>
            <a:endParaRPr lang="en-US" sz="1500" dirty="0"/>
          </a:p>
        </p:txBody>
      </p:sp>
      <p:sp>
        <p:nvSpPr>
          <p:cNvPr id="7" name="Shape 3"/>
          <p:cNvSpPr/>
          <p:nvPr/>
        </p:nvSpPr>
        <p:spPr>
          <a:xfrm>
            <a:off x="566928" y="3913632"/>
            <a:ext cx="6720840" cy="1005840"/>
          </a:xfrm>
          <a:prstGeom prst="roundRect">
            <a:avLst>
              <a:gd name="adj" fmla="val 7273"/>
            </a:avLst>
          </a:prstGeom>
          <a:solidFill>
            <a:srgbClr val="152420"/>
          </a:solidFill>
          <a:ln w="12700">
            <a:solidFill>
              <a:srgbClr val="2B453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4"/>
          <p:cNvSpPr txBox="1"/>
          <p:nvPr/>
        </p:nvSpPr>
        <p:spPr>
          <a:xfrm>
            <a:off x="786384" y="4078224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3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Costruita con Flèche</a:t>
            </a:r>
            <a:endParaRPr lang="en-US" sz="135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150" dirty="0">
                <a:solidFill>
                  <a:srgbClr val="93A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 ruoli interni, un orchestratore, tre controlli automatici</a:t>
            </a:r>
            <a:endParaRPr lang="en-US" sz="1350" dirty="0"/>
          </a:p>
        </p:txBody>
      </p:sp>
      <p:sp>
        <p:nvSpPr>
          <p:cNvPr id="9" name="Text 5"/>
          <p:cNvSpPr txBox="1"/>
          <p:nvPr/>
        </p:nvSpPr>
        <p:spPr>
          <a:xfrm>
            <a:off x="566928" y="5257800"/>
            <a:ext cx="7223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3A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Hackathon · Tema 02 Inclusione Finanziaria   ·   Salvatore Scarpato e Marco Moscariello  ·   14 settembre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46304"/>
            <a:ext cx="8595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43C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 01 · USER DIFFICULTY STATEMENT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84048"/>
            <a:ext cx="8595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7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difficoltà non è la finanza. È la traduzione.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07008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17323A"/>
          </a:solidFill>
          <a:ln w="12700">
            <a:solidFill>
              <a:srgbClr val="17323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5" name="Text 3"/>
          <p:cNvSpPr txBox="1"/>
          <p:nvPr/>
        </p:nvSpPr>
        <p:spPr>
          <a:xfrm>
            <a:off x="822960" y="1316736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Giulia, 32 anni  ·  1.800 € netti  ·  nessuna formazione finanziaria  ·  un fondo pensione che non ha scelto capendolo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975104"/>
            <a:ext cx="5349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7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 difficoltà, una sola causa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2359152"/>
            <a:ext cx="5349240" cy="877824"/>
          </a:xfrm>
          <a:prstGeom prst="roundRect">
            <a:avLst>
              <a:gd name="adj" fmla="val 8333"/>
            </a:avLst>
          </a:prstGeom>
          <a:solidFill>
            <a:srgbClr val="F1F5F3"/>
          </a:solidFill>
          <a:ln w="12700">
            <a:solidFill>
              <a:srgbClr val="F1F5F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Shape 6"/>
          <p:cNvSpPr/>
          <p:nvPr/>
        </p:nvSpPr>
        <p:spPr>
          <a:xfrm>
            <a:off x="786384" y="2606040"/>
            <a:ext cx="384048" cy="384048"/>
          </a:xfrm>
          <a:prstGeom prst="ellipse">
            <a:avLst/>
          </a:prstGeom>
          <a:solidFill>
            <a:srgbClr val="43C3A3"/>
          </a:solidFill>
          <a:ln w="12700">
            <a:solidFill>
              <a:srgbClr val="43C3A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9" name="Text 7"/>
          <p:cNvSpPr txBox="1"/>
          <p:nvPr/>
        </p:nvSpPr>
        <p:spPr>
          <a:xfrm>
            <a:off x="786384" y="2606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316736" y="2459736"/>
            <a:ext cx="4434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percentuale non dice se sono molti o pochi soldi.</a:t>
            </a:r>
            <a:endParaRPr lang="en-US" sz="12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05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Senza uno strumento per tradurla, la persona non prova nemmeno a rispondere: il dato passa inosservato ogni anno.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66928" y="3346704"/>
            <a:ext cx="5349240" cy="877824"/>
          </a:xfrm>
          <a:prstGeom prst="roundRect">
            <a:avLst>
              <a:gd name="adj" fmla="val 8333"/>
            </a:avLst>
          </a:prstGeom>
          <a:solidFill>
            <a:srgbClr val="F1F5F3"/>
          </a:solidFill>
          <a:ln w="12700">
            <a:solidFill>
              <a:srgbClr val="F1F5F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Shape 10"/>
          <p:cNvSpPr/>
          <p:nvPr/>
        </p:nvSpPr>
        <p:spPr>
          <a:xfrm>
            <a:off x="786384" y="3593592"/>
            <a:ext cx="384048" cy="384048"/>
          </a:xfrm>
          <a:prstGeom prst="ellipse">
            <a:avLst/>
          </a:prstGeom>
          <a:solidFill>
            <a:srgbClr val="43C3A3"/>
          </a:solidFill>
          <a:ln w="12700">
            <a:solidFill>
              <a:srgbClr val="43C3A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3" name="Text 11"/>
          <p:cNvSpPr txBox="1"/>
          <p:nvPr/>
        </p:nvSpPr>
        <p:spPr>
          <a:xfrm>
            <a:off x="786384" y="3593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316736" y="3447288"/>
            <a:ext cx="4434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costo non si vede, perché non viene addebitato.</a:t>
            </a:r>
            <a:endParaRPr lang="en-US" sz="12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05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È trattenuto prima che il saldo si aggiorni: nessun bonifico, nessuna notifica. Non entra nel budget percepito.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4334256"/>
            <a:ext cx="5349240" cy="877824"/>
          </a:xfrm>
          <a:prstGeom prst="roundRect">
            <a:avLst>
              <a:gd name="adj" fmla="val 8333"/>
            </a:avLst>
          </a:prstGeom>
          <a:solidFill>
            <a:srgbClr val="F1F5F3"/>
          </a:solidFill>
          <a:ln w="12700">
            <a:solidFill>
              <a:srgbClr val="F1F5F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6" name="Shape 14"/>
          <p:cNvSpPr/>
          <p:nvPr/>
        </p:nvSpPr>
        <p:spPr>
          <a:xfrm>
            <a:off x="786384" y="4581144"/>
            <a:ext cx="384048" cy="384048"/>
          </a:xfrm>
          <a:prstGeom prst="ellipse">
            <a:avLst/>
          </a:prstGeom>
          <a:solidFill>
            <a:srgbClr val="43C3A3"/>
          </a:solidFill>
          <a:ln w="12700">
            <a:solidFill>
              <a:srgbClr val="43C3A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7" name="Text 15"/>
          <p:cNvSpPr txBox="1"/>
          <p:nvPr/>
        </p:nvSpPr>
        <p:spPr>
          <a:xfrm>
            <a:off x="786384" y="45811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316736" y="4434840"/>
            <a:ext cx="4434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numero senza tempo non muove nulla.</a:t>
            </a:r>
            <a:endParaRPr lang="en-US" sz="12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05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«174 € l'anno» resta astratto. Serve un'unità che la persona senta: i mesi di libertà che quel costo le toglie.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144768" y="197510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7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stessa cifra, tradotta due volte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144768" y="2359152"/>
            <a:ext cx="5486400" cy="877824"/>
          </a:xfrm>
          <a:prstGeom prst="roundRect">
            <a:avLst>
              <a:gd name="adj" fmla="val 8333"/>
            </a:avLst>
          </a:prstGeom>
          <a:solidFill>
            <a:srgbClr val="F1F5F3"/>
          </a:solidFill>
          <a:ln w="12700">
            <a:solidFill>
              <a:srgbClr val="F1F5F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1" name="Text 19"/>
          <p:cNvSpPr txBox="1"/>
          <p:nvPr/>
        </p:nvSpPr>
        <p:spPr>
          <a:xfrm>
            <a:off x="6364224" y="2523744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7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1,45%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8412480" y="2542032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2F8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riga sul documento</a:t>
            </a:r>
            <a:endParaRPr lang="en-US" sz="115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00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quello che la persona legge oggi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144768" y="3346704"/>
            <a:ext cx="5486400" cy="877824"/>
          </a:xfrm>
          <a:prstGeom prst="roundRect">
            <a:avLst>
              <a:gd name="adj" fmla="val 8333"/>
            </a:avLst>
          </a:prstGeom>
          <a:solidFill>
            <a:srgbClr val="F1F5F3"/>
          </a:solidFill>
          <a:ln w="12700">
            <a:solidFill>
              <a:srgbClr val="F1F5F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4" name="Text 22"/>
          <p:cNvSpPr txBox="1"/>
          <p:nvPr/>
        </p:nvSpPr>
        <p:spPr>
          <a:xfrm>
            <a:off x="6364224" y="3511296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7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4.550 €</a:t>
            </a:r>
            <a:endParaRPr lang="en-US" sz="2600" dirty="0"/>
          </a:p>
        </p:txBody>
      </p:sp>
      <p:sp>
        <p:nvSpPr>
          <p:cNvPr id="25" name="Text 23"/>
          <p:cNvSpPr txBox="1"/>
          <p:nvPr/>
        </p:nvSpPr>
        <p:spPr>
          <a:xfrm>
            <a:off x="8412480" y="3529584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2F8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trattenuti in dieci anni</a:t>
            </a:r>
            <a:endParaRPr lang="en-US" sz="115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00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calcolati sui suoi parametri, non su un esempio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144768" y="4334256"/>
            <a:ext cx="5486400" cy="877824"/>
          </a:xfrm>
          <a:prstGeom prst="roundRect">
            <a:avLst>
              <a:gd name="adj" fmla="val 8333"/>
            </a:avLst>
          </a:prstGeom>
          <a:solidFill>
            <a:srgbClr val="17323A"/>
          </a:solidFill>
          <a:ln w="19050">
            <a:solidFill>
              <a:srgbClr val="F0B429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7" name="Text 25"/>
          <p:cNvSpPr txBox="1"/>
          <p:nvPr/>
        </p:nvSpPr>
        <p:spPr>
          <a:xfrm>
            <a:off x="6364224" y="4498848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0B4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 mesi</a:t>
            </a:r>
            <a:endParaRPr lang="en-US" sz="2600" dirty="0"/>
          </a:p>
        </p:txBody>
      </p:sp>
      <p:sp>
        <p:nvSpPr>
          <p:cNvPr id="28" name="Text 26"/>
          <p:cNvSpPr txBox="1"/>
          <p:nvPr/>
        </p:nvSpPr>
        <p:spPr>
          <a:xfrm>
            <a:off x="8412480" y="4517136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43C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suo risparmio</a:t>
            </a:r>
            <a:endParaRPr lang="en-US" sz="115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000" dirty="0">
                <a:solidFill>
                  <a:srgbClr val="93A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l'unica risorsa che non si recupera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468112"/>
            <a:ext cx="1106424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43C3A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0" name="Text 28"/>
          <p:cNvSpPr txBox="1"/>
          <p:nvPr/>
        </p:nvSpPr>
        <p:spPr>
          <a:xfrm>
            <a:off x="822960" y="5596128"/>
            <a:ext cx="10607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500"/>
              </a:spcAft>
              <a:buNone/>
            </a:pPr>
            <a:r>
              <a:rPr lang="en-US" sz="1200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PUÒ dire: «questo costo trattiene 4.550 € in dieci anni sui tuoi parametri».   NON può dire: «è alto», «ti conviene cambiare», «questo fondo è migliore».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566928" y="6236208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Prima, alla domanda «quanto ti costa l'1,45% in dieci anni su 12.000 €?»: «non lo so». Dopo: indica l'ordine di grandezza e sa da dove viene.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46304"/>
            <a:ext cx="8595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43C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CAPABILITY SOFTWARE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84048"/>
            <a:ext cx="8595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7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guida che contiene uno strumento.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07008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700" b="1" dirty="0">
                <a:solidFill>
                  <a:srgbClr val="17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sezioni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66928" y="1737360"/>
            <a:ext cx="5212080" cy="548640"/>
          </a:xfrm>
          <a:prstGeom prst="roundRect">
            <a:avLst>
              <a:gd name="adj" fmla="val 13333"/>
            </a:avLst>
          </a:prstGeom>
          <a:solidFill>
            <a:srgbClr val="F1F5F3"/>
          </a:solidFill>
          <a:ln w="12700">
            <a:solidFill>
              <a:srgbClr val="F1F5F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Shape 4"/>
          <p:cNvSpPr/>
          <p:nvPr/>
        </p:nvSpPr>
        <p:spPr>
          <a:xfrm>
            <a:off x="749808" y="1847088"/>
            <a:ext cx="329184" cy="329184"/>
          </a:xfrm>
          <a:prstGeom prst="ellipse">
            <a:avLst/>
          </a:prstGeom>
          <a:solidFill>
            <a:srgbClr val="17323A"/>
          </a:solidFill>
          <a:ln w="12700">
            <a:solidFill>
              <a:srgbClr val="17323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Text 5"/>
          <p:cNvSpPr txBox="1"/>
          <p:nvPr/>
        </p:nvSpPr>
        <p:spPr>
          <a:xfrm>
            <a:off x="749808" y="18470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4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225296" y="1819656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Percorso</a:t>
            </a:r>
            <a:endParaRPr lang="en-US" sz="125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05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home: 9 tappe in 3 fasi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2395728"/>
            <a:ext cx="5212080" cy="548640"/>
          </a:xfrm>
          <a:prstGeom prst="roundRect">
            <a:avLst>
              <a:gd name="adj" fmla="val 13333"/>
            </a:avLst>
          </a:prstGeom>
          <a:solidFill>
            <a:srgbClr val="F1F5F3"/>
          </a:solidFill>
          <a:ln w="12700">
            <a:solidFill>
              <a:srgbClr val="F1F5F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Shape 8"/>
          <p:cNvSpPr/>
          <p:nvPr/>
        </p:nvSpPr>
        <p:spPr>
          <a:xfrm>
            <a:off x="749808" y="2505456"/>
            <a:ext cx="329184" cy="329184"/>
          </a:xfrm>
          <a:prstGeom prst="ellipse">
            <a:avLst/>
          </a:prstGeom>
          <a:solidFill>
            <a:srgbClr val="17323A"/>
          </a:solidFill>
          <a:ln w="12700">
            <a:solidFill>
              <a:srgbClr val="17323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Text 9"/>
          <p:cNvSpPr txBox="1"/>
          <p:nvPr/>
        </p:nvSpPr>
        <p:spPr>
          <a:xfrm>
            <a:off x="749808" y="25054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4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1225296" y="2478024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Simulatore</a:t>
            </a:r>
            <a:endParaRPr lang="en-US" sz="125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05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doppio effetto di una spesa fissa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3054096"/>
            <a:ext cx="5212080" cy="548640"/>
          </a:xfrm>
          <a:prstGeom prst="roundRect">
            <a:avLst>
              <a:gd name="adj" fmla="val 13333"/>
            </a:avLst>
          </a:prstGeom>
          <a:solidFill>
            <a:srgbClr val="F1F5F3"/>
          </a:solidFill>
          <a:ln w="12700">
            <a:solidFill>
              <a:srgbClr val="F1F5F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4" name="Shape 12"/>
          <p:cNvSpPr/>
          <p:nvPr/>
        </p:nvSpPr>
        <p:spPr>
          <a:xfrm>
            <a:off x="749808" y="3163824"/>
            <a:ext cx="329184" cy="329184"/>
          </a:xfrm>
          <a:prstGeom prst="ellipse">
            <a:avLst/>
          </a:prstGeom>
          <a:solidFill>
            <a:srgbClr val="17323A"/>
          </a:solidFill>
          <a:ln w="12700">
            <a:solidFill>
              <a:srgbClr val="17323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Text 13"/>
          <p:cNvSpPr txBox="1"/>
          <p:nvPr/>
        </p:nvSpPr>
        <p:spPr>
          <a:xfrm>
            <a:off x="749808" y="31638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4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1225296" y="3136392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Uscite</a:t>
            </a:r>
            <a:endParaRPr lang="en-US" sz="125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05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caccia alle uscite invisibili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3712464"/>
            <a:ext cx="5212080" cy="548640"/>
          </a:xfrm>
          <a:prstGeom prst="roundRect">
            <a:avLst>
              <a:gd name="adj" fmla="val 13333"/>
            </a:avLst>
          </a:prstGeom>
          <a:solidFill>
            <a:srgbClr val="F1F5F3"/>
          </a:solidFill>
          <a:ln w="12700">
            <a:solidFill>
              <a:srgbClr val="F1F5F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Shape 16"/>
          <p:cNvSpPr/>
          <p:nvPr/>
        </p:nvSpPr>
        <p:spPr>
          <a:xfrm>
            <a:off x="749808" y="3822192"/>
            <a:ext cx="329184" cy="329184"/>
          </a:xfrm>
          <a:prstGeom prst="ellipse">
            <a:avLst/>
          </a:prstGeom>
          <a:solidFill>
            <a:srgbClr val="17323A"/>
          </a:solidFill>
          <a:ln w="12700">
            <a:solidFill>
              <a:srgbClr val="17323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9" name="Text 17"/>
          <p:cNvSpPr txBox="1"/>
          <p:nvPr/>
        </p:nvSpPr>
        <p:spPr>
          <a:xfrm>
            <a:off x="749808" y="38221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4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1225296" y="379476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Progressi</a:t>
            </a:r>
            <a:endParaRPr lang="en-US" sz="125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05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proiezione tratteggiata vs dati reali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4370832"/>
            <a:ext cx="5212080" cy="548640"/>
          </a:xfrm>
          <a:prstGeom prst="roundRect">
            <a:avLst>
              <a:gd name="adj" fmla="val 13333"/>
            </a:avLst>
          </a:prstGeom>
          <a:solidFill>
            <a:srgbClr val="F1F5F3"/>
          </a:solidFill>
          <a:ln w="12700">
            <a:solidFill>
              <a:srgbClr val="F1F5F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Shape 20"/>
          <p:cNvSpPr/>
          <p:nvPr/>
        </p:nvSpPr>
        <p:spPr>
          <a:xfrm>
            <a:off x="749808" y="4480560"/>
            <a:ext cx="329184" cy="329184"/>
          </a:xfrm>
          <a:prstGeom prst="ellipse">
            <a:avLst/>
          </a:prstGeom>
          <a:solidFill>
            <a:srgbClr val="17323A"/>
          </a:solidFill>
          <a:ln w="12700">
            <a:solidFill>
              <a:srgbClr val="17323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3" name="Text 21"/>
          <p:cNvSpPr txBox="1"/>
          <p:nvPr/>
        </p:nvSpPr>
        <p:spPr>
          <a:xfrm>
            <a:off x="749808" y="44805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4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1225296" y="4453128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Profilo</a:t>
            </a:r>
            <a:endParaRPr lang="en-US" sz="125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05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parametri che alimentano tutto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6144768" y="1207008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700" b="1" dirty="0">
                <a:solidFill>
                  <a:srgbClr val="17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 tappe, 4 pilastri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6144768" y="1737360"/>
            <a:ext cx="5486400" cy="1042416"/>
          </a:xfrm>
          <a:prstGeom prst="roundRect">
            <a:avLst>
              <a:gd name="adj" fmla="val 7018"/>
            </a:avLst>
          </a:prstGeom>
          <a:solidFill>
            <a:srgbClr val="F1F5F3"/>
          </a:solidFill>
          <a:ln w="12700">
            <a:solidFill>
              <a:srgbClr val="F1F5F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7" name="Shape 25"/>
          <p:cNvSpPr/>
          <p:nvPr/>
        </p:nvSpPr>
        <p:spPr>
          <a:xfrm>
            <a:off x="6345936" y="1938528"/>
            <a:ext cx="182880" cy="182880"/>
          </a:xfrm>
          <a:prstGeom prst="ellipse">
            <a:avLst/>
          </a:prstGeom>
          <a:solidFill>
            <a:srgbClr val="43C3A3"/>
          </a:solidFill>
          <a:ln w="12700">
            <a:solidFill>
              <a:srgbClr val="43C3A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8" name="Text 26"/>
          <p:cNvSpPr txBox="1"/>
          <p:nvPr/>
        </p:nvSpPr>
        <p:spPr>
          <a:xfrm>
            <a:off x="6638544" y="1856232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950" b="1" dirty="0">
                <a:solidFill>
                  <a:srgbClr val="43C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1 · MESE 1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Gestione del budget</a:t>
            </a:r>
            <a:endParaRPr lang="en-US" sz="95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05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fisse o variabili · 2 il tuo tasso di risparmio · 3 registra un mese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144768" y="2889504"/>
            <a:ext cx="5486400" cy="1042416"/>
          </a:xfrm>
          <a:prstGeom prst="roundRect">
            <a:avLst>
              <a:gd name="adj" fmla="val 7018"/>
            </a:avLst>
          </a:prstGeom>
          <a:solidFill>
            <a:srgbClr val="F1F5F3"/>
          </a:solidFill>
          <a:ln w="12700">
            <a:solidFill>
              <a:srgbClr val="F1F5F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0" name="Shape 28"/>
          <p:cNvSpPr/>
          <p:nvPr/>
        </p:nvSpPr>
        <p:spPr>
          <a:xfrm>
            <a:off x="6345936" y="3090672"/>
            <a:ext cx="182880" cy="182880"/>
          </a:xfrm>
          <a:prstGeom prst="ellipse">
            <a:avLst/>
          </a:prstGeom>
          <a:solidFill>
            <a:srgbClr val="2F8F7A"/>
          </a:solidFill>
          <a:ln w="12700">
            <a:solidFill>
              <a:srgbClr val="2F8F7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1" name="Text 29"/>
          <p:cNvSpPr txBox="1"/>
          <p:nvPr/>
        </p:nvSpPr>
        <p:spPr>
          <a:xfrm>
            <a:off x="6638544" y="3008376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950" b="1" dirty="0">
                <a:solidFill>
                  <a:srgbClr val="2F8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 · MESI 2–6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di emergenza</a:t>
            </a:r>
            <a:endParaRPr lang="en-US" sz="95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05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perché tre mesi · 5 i costi che non vedi · 6 interesse composto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144768" y="4041648"/>
            <a:ext cx="5486400" cy="1042416"/>
          </a:xfrm>
          <a:prstGeom prst="roundRect">
            <a:avLst>
              <a:gd name="adj" fmla="val 7018"/>
            </a:avLst>
          </a:prstGeom>
          <a:solidFill>
            <a:srgbClr val="F1F5F3"/>
          </a:solidFill>
          <a:ln w="12700">
            <a:solidFill>
              <a:srgbClr val="F1F5F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3" name="Shape 31"/>
          <p:cNvSpPr/>
          <p:nvPr/>
        </p:nvSpPr>
        <p:spPr>
          <a:xfrm>
            <a:off x="6345936" y="4242816"/>
            <a:ext cx="182880" cy="182880"/>
          </a:xfrm>
          <a:prstGeom prst="ellipse">
            <a:avLst/>
          </a:prstGeom>
          <a:solidFill>
            <a:srgbClr val="F0B429"/>
          </a:solidFill>
          <a:ln w="12700">
            <a:solidFill>
              <a:srgbClr val="F0B429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4" name="Text 32"/>
          <p:cNvSpPr txBox="1"/>
          <p:nvPr/>
        </p:nvSpPr>
        <p:spPr>
          <a:xfrm>
            <a:off x="6638544" y="416052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950" b="1" dirty="0">
                <a:solidFill>
                  <a:srgbClr val="8A6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3 · FUTURO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Rischio, rendimento e previdenza</a:t>
            </a:r>
            <a:endParaRPr lang="en-US" sz="95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05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rischio e rendimento · 8 previdenza e i suoi costi · 9 il tuo orizzonte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566928" y="5230368"/>
            <a:ext cx="521208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5E0D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6" name="Text 34"/>
          <p:cNvSpPr txBox="1"/>
          <p:nvPr/>
        </p:nvSpPr>
        <p:spPr>
          <a:xfrm>
            <a:off x="786384" y="5358384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500"/>
              </a:spcAft>
              <a:buNone/>
            </a:pPr>
            <a:r>
              <a:rPr lang="en-US" sz="110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Nessuna schermata calcola: tutte leggono lo stesso motore. Cambiare un parametro in Profilo aggiorna le altre quattro senza ricaricare.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144768" y="5230368"/>
            <a:ext cx="548640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43C3A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8" name="Text 36"/>
          <p:cNvSpPr txBox="1"/>
          <p:nvPr/>
        </p:nvSpPr>
        <p:spPr>
          <a:xfrm>
            <a:off x="6364224" y="5358384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500"/>
              </a:spcAft>
              <a:buNone/>
            </a:pPr>
            <a:r>
              <a:rPr lang="en-US" sz="1150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sottotitolo di tappa contiene un dato reale della persona, calcolato dal motore: «il tuo: 16,7%», «il tuo fondo: 4.500 €», «3 di 7 trovate».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566928" y="6236208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schermate · 7.435 righe di codice · un motore di calcolo con 11 funzioni. Schermata di avvio: Percorso, non il simulatore.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46304"/>
            <a:ext cx="8595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43C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FUNZIONA, IN TRE PEZZI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8404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7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numeri vengono da un calcolo, non da un modello.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1280160"/>
            <a:ext cx="3429000" cy="2286000"/>
          </a:xfrm>
          <a:prstGeom prst="roundRect">
            <a:avLst>
              <a:gd name="adj" fmla="val 3200"/>
            </a:avLst>
          </a:prstGeom>
          <a:solidFill>
            <a:srgbClr val="17323A"/>
          </a:solidFill>
          <a:ln w="12700">
            <a:solidFill>
              <a:srgbClr val="17323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5" name="Text 3"/>
          <p:cNvSpPr txBox="1"/>
          <p:nvPr/>
        </p:nvSpPr>
        <p:spPr>
          <a:xfrm>
            <a:off x="804672" y="1444752"/>
            <a:ext cx="295351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F0B4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motore di calcolo</a:t>
            </a:r>
            <a:endParaRPr lang="en-US" sz="15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43C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prende i parametri, restituisce i numeri</a:t>
            </a:r>
            <a:endParaRPr lang="en-US" sz="15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Riceve quello che la persona ha dichiarato — reddito, risparmio, capitale, costo — e produce ogni cifra che l'app mostra. Stessi dati, stesso risultato, sempre.</a:t>
            </a:r>
            <a:endParaRPr lang="en-US" sz="15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050" i="1" dirty="0">
                <a:solidFill>
                  <a:srgbClr val="93A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Nessuna schermata calcola per conto proprio.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069080" y="22402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43C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26280" y="1280160"/>
            <a:ext cx="3429000" cy="2286000"/>
          </a:xfrm>
          <a:prstGeom prst="roundRect">
            <a:avLst>
              <a:gd name="adj" fmla="val 3200"/>
            </a:avLst>
          </a:prstGeom>
          <a:solidFill>
            <a:srgbClr val="F1F5F3"/>
          </a:solidFill>
          <a:ln w="12700">
            <a:solidFill>
              <a:srgbClr val="F1F5F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 txBox="1"/>
          <p:nvPr/>
        </p:nvSpPr>
        <p:spPr>
          <a:xfrm>
            <a:off x="4764024" y="1444752"/>
            <a:ext cx="295351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7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traduttore</a:t>
            </a:r>
            <a:endParaRPr lang="en-US" sz="15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2F8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spiega, non calcola</a:t>
            </a:r>
            <a:endParaRPr lang="en-US" sz="15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10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Trasforma il risultato in una frase, al livello di linguaggio scelto fra tre. Ogni cifra che scrive deve già esistere nel risultato che ha ricevuto.</a:t>
            </a:r>
            <a:endParaRPr lang="en-US" sz="15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050" i="1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arrotonda, non stima, non aggiunge numeri.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028432" y="22402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43C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485632" y="1280160"/>
            <a:ext cx="3145536" cy="2286000"/>
          </a:xfrm>
          <a:prstGeom prst="roundRect">
            <a:avLst>
              <a:gd name="adj" fmla="val 3200"/>
            </a:avLst>
          </a:prstGeom>
          <a:solidFill>
            <a:srgbClr val="F1F5F3"/>
          </a:solidFill>
          <a:ln w="12700">
            <a:solidFill>
              <a:srgbClr val="F1F5F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Text 9"/>
          <p:cNvSpPr txBox="1"/>
          <p:nvPr/>
        </p:nvSpPr>
        <p:spPr>
          <a:xfrm>
            <a:off x="8723376" y="1444752"/>
            <a:ext cx="267004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7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confine</a:t>
            </a:r>
            <a:endParaRPr lang="en-US" sz="15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B55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riconosce le richieste di consiglio</a:t>
            </a:r>
            <a:endParaRPr lang="en-US" sz="15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10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Otto domande tipiche — «conviene?», «è caro?», «cosa faresti tu?», «devo disdire?» — vengono riconosciute e ricevono una risposta fissa, scritta a mano.</a:t>
            </a:r>
            <a:endParaRPr lang="en-US" sz="15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050" i="1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risposta non passa da un modello: non può scivolare in un consiglio.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3730752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17323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3" name="Text 11"/>
          <p:cNvSpPr txBox="1"/>
          <p:nvPr/>
        </p:nvSpPr>
        <p:spPr>
          <a:xfrm>
            <a:off x="822960" y="3877056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250" b="1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regola che non si negozia</a:t>
            </a:r>
            <a:endParaRPr lang="en-US" sz="125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15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Tutti i numeri mostrati alla persona vengono dal motore di calcolo. Nessuna cifra è generata da un modello linguistico: un modello che arrotonda produce numeri non riproducibili, e un numero non riproducibile non è educazione — è un'affermazione da credere.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" y="4846320"/>
            <a:ext cx="11064240" cy="1188720"/>
          </a:xfrm>
          <a:prstGeom prst="roundRect">
            <a:avLst>
              <a:gd name="adj" fmla="val 6154"/>
            </a:avLst>
          </a:prstGeom>
          <a:solidFill>
            <a:srgbClr val="17323A"/>
          </a:solidFill>
          <a:ln w="12700">
            <a:solidFill>
              <a:srgbClr val="17323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Text 13"/>
          <p:cNvSpPr txBox="1"/>
          <p:nvPr/>
        </p:nvSpPr>
        <p:spPr>
          <a:xfrm>
            <a:off x="868680" y="5010912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risposta a «mi conviene cambiare?», parola per parola</a:t>
            </a:r>
            <a:endParaRPr lang="en-US" sz="115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200" i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«Questo dipende da cose che non conosco e che riguardano solo te: quanto ti serve quel denaro, quando, e quanto ti pesa il rischio. Quello che posso fare è insegnarti a leggere il costo — così la domanda la porti tu, precisa, a chi di dovere. Vuoi che ti mostri quali tre numeri guardare?»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6163056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È la stessa frase ogni volta: restituisce la decisione alla persona e le propone un momento educativo al posto di un consiglio.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7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mascot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726680" y="1234440"/>
            <a:ext cx="4187952" cy="443484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2084832"/>
            <a:ext cx="7498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4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Flèche</a:t>
            </a:r>
            <a:endParaRPr lang="en-US" sz="52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3017520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43C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sistema agentico che ha costruito l'app.</a:t>
            </a:r>
            <a:endParaRPr lang="en-US" sz="17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3584448"/>
            <a:ext cx="7223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i="1" dirty="0">
                <a:solidFill>
                  <a:srgbClr val="F0B4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 «abbiamo nove agenti», ma: ogni requisito della challenge ha un agente che lo possiede e un altro che lo verifica.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4572000"/>
            <a:ext cx="7223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3AD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plugin Claude Code  ·  claude --plugin-dir Fleche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7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46304"/>
            <a:ext cx="8595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FLUSSO DI LAVORO TIPO · PASSO 0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84048"/>
            <a:ext cx="8595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4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richiesta entra da /f-orc.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43584"/>
            <a:ext cx="11064240" cy="841248"/>
          </a:xfrm>
          <a:prstGeom prst="roundRect">
            <a:avLst>
              <a:gd name="adj" fmla="val 6522"/>
            </a:avLst>
          </a:prstGeom>
          <a:solidFill>
            <a:srgbClr val="0A1512"/>
          </a:solidFill>
          <a:ln w="12700">
            <a:solidFill>
              <a:srgbClr val="27403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5" name="Text 3"/>
          <p:cNvSpPr txBox="1"/>
          <p:nvPr/>
        </p:nvSpPr>
        <p:spPr>
          <a:xfrm>
            <a:off x="731520" y="1362456"/>
            <a:ext cx="107350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93AD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claude --plugin-dir Fleche</a:t>
            </a:r>
            <a:endParaRPr lang="en-US" sz="13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F0B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/f-orc realizza lo scenario sul tema Inclusione Finanziaria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2249424"/>
            <a:ext cx="5486400" cy="3566160"/>
          </a:xfrm>
          <a:prstGeom prst="roundRect">
            <a:avLst>
              <a:gd name="adj" fmla="val 2051"/>
            </a:avLst>
          </a:prstGeom>
          <a:solidFill>
            <a:srgbClr val="152420"/>
          </a:solidFill>
          <a:ln w="12700">
            <a:solidFill>
              <a:srgbClr val="2B453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Text 5"/>
          <p:cNvSpPr txBox="1"/>
          <p:nvPr/>
        </p:nvSpPr>
        <p:spPr>
          <a:xfrm>
            <a:off x="822960" y="2414016"/>
            <a:ext cx="4983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F0B4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Cosa fa prima di dispatchare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 che lo scenario sia UNO solo. La challenge lo impone, e con dieci ore-persona due scenari significa che nessuno dei due diventa dimostrabile.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la richiesta è vaga, non scegliere: chiedere. Presenta i cinque scenari ammessi con una nota su quale abbia la capability software più innegabile.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 docs/pipeline/stato.md: passo, agente, esito, artefatto, token. Aggiornato a ogni passaggio.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 via Task all'agente competente. Non implementa e non valuta: scrive solo in docs/pipeline/.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36208" y="2249424"/>
            <a:ext cx="5394960" cy="1700784"/>
          </a:xfrm>
          <a:prstGeom prst="roundRect">
            <a:avLst>
              <a:gd name="adj" fmla="val 4301"/>
            </a:avLst>
          </a:prstGeom>
          <a:solidFill>
            <a:srgbClr val="0A1512"/>
          </a:solidFill>
          <a:ln w="12700">
            <a:solidFill>
              <a:srgbClr val="F0B429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9" name="Text 7"/>
          <p:cNvSpPr txBox="1"/>
          <p:nvPr/>
        </p:nvSpPr>
        <p:spPr>
          <a:xfrm>
            <a:off x="6473952" y="2395728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F0B4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Perché è una skill e non un agente</a:t>
            </a:r>
            <a:endParaRPr lang="en-US" sz="13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1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L'orchestratore gira nel thread principale — l'unico contesto che può dispatchare subagent via Task. Un subagent non può dispatchare altri subagent: un f-orc agente non avrebbe potuto fare il suo lavoro.</a:t>
            </a:r>
            <a:endParaRPr lang="en-US" sz="13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050" i="1" dirty="0">
                <a:solidFill>
                  <a:srgbClr val="93A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Errore corretto in corsa, dopo che l'operatore ha chiesto perché l'orchestratore fosse un agente.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36208" y="4114800"/>
            <a:ext cx="5394960" cy="1700784"/>
          </a:xfrm>
          <a:prstGeom prst="roundRect">
            <a:avLst>
              <a:gd name="adj" fmla="val 4301"/>
            </a:avLst>
          </a:prstGeom>
          <a:solidFill>
            <a:srgbClr val="152420"/>
          </a:solidFill>
          <a:ln w="12700">
            <a:solidFill>
              <a:srgbClr val="2B453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Text 9"/>
          <p:cNvSpPr txBox="1"/>
          <p:nvPr/>
        </p:nvSpPr>
        <p:spPr>
          <a:xfrm>
            <a:off x="6473952" y="4261104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43C3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Cosa non fa, mai</a:t>
            </a:r>
            <a:endParaRPr lang="en-US" sz="13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produce i deliverable. Non corregge il lavoro degli agenti: se f-clarity segnala un'omissione, il compito torna a f-dev.</a:t>
            </a:r>
            <a:endParaRPr lang="en-US" sz="13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1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aggira un blocco. Se un guardrail ferma una richiesta, quella richiesta era fuori perimetro — e il blocco è l'evidenza che usa il deliverable 03.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6236208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93A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 registrata in stato.md: «scenario unico confermato dall'operatore: costi ricorrenti → mesi di libertà».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46304"/>
            <a:ext cx="8595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43C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SISTEMA IN UNA PAGINA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84048"/>
            <a:ext cx="8595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7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Chi fa cosa, e in quale ordine.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25296"/>
            <a:ext cx="2606040" cy="1975104"/>
          </a:xfrm>
          <a:prstGeom prst="roundRect">
            <a:avLst>
              <a:gd name="adj" fmla="val 3704"/>
            </a:avLst>
          </a:prstGeom>
          <a:solidFill>
            <a:srgbClr val="F1F5F3"/>
          </a:solidFill>
          <a:ln w="12700">
            <a:solidFill>
              <a:srgbClr val="F1F5F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5" name="Shape 3"/>
          <p:cNvSpPr/>
          <p:nvPr/>
        </p:nvSpPr>
        <p:spPr>
          <a:xfrm>
            <a:off x="786384" y="1408176"/>
            <a:ext cx="384048" cy="384048"/>
          </a:xfrm>
          <a:prstGeom prst="ellipse">
            <a:avLst/>
          </a:prstGeom>
          <a:solidFill>
            <a:srgbClr val="43C3A3"/>
          </a:solidFill>
          <a:ln w="12700">
            <a:solidFill>
              <a:srgbClr val="43C3A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 txBox="1"/>
          <p:nvPr/>
        </p:nvSpPr>
        <p:spPr>
          <a:xfrm>
            <a:off x="786384" y="1408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2029968" y="142646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5C71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20k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1883664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732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f-analyst</a:t>
            </a:r>
            <a:endParaRPr lang="en-US" sz="125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43C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definisce lo scenario</a:t>
            </a:r>
            <a:endParaRPr lang="en-US" sz="125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05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difficoltà precisa e sette criteri che un test può verificare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3191256" y="201168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392424" y="1225296"/>
            <a:ext cx="2606040" cy="1975104"/>
          </a:xfrm>
          <a:prstGeom prst="roundRect">
            <a:avLst>
              <a:gd name="adj" fmla="val 3704"/>
            </a:avLst>
          </a:prstGeom>
          <a:solidFill>
            <a:srgbClr val="F1F5F3"/>
          </a:solidFill>
          <a:ln w="12700">
            <a:solidFill>
              <a:srgbClr val="F1F5F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Shape 9"/>
          <p:cNvSpPr/>
          <p:nvPr/>
        </p:nvSpPr>
        <p:spPr>
          <a:xfrm>
            <a:off x="3611880" y="1408176"/>
            <a:ext cx="384048" cy="384048"/>
          </a:xfrm>
          <a:prstGeom prst="ellipse">
            <a:avLst/>
          </a:prstGeom>
          <a:solidFill>
            <a:srgbClr val="17323A"/>
          </a:solidFill>
          <a:ln w="12700">
            <a:solidFill>
              <a:srgbClr val="17323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Text 10"/>
          <p:cNvSpPr txBox="1"/>
          <p:nvPr/>
        </p:nvSpPr>
        <p:spPr>
          <a:xfrm>
            <a:off x="3611880" y="1408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855464" y="142646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5C71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202k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611880" y="1883664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732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f-dev</a:t>
            </a:r>
            <a:endParaRPr lang="en-US" sz="125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costruisce e verifica</a:t>
            </a:r>
            <a:endParaRPr lang="en-US" sz="125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05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motore di calcolo, le dieci schermate e i test che citano i criteri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6016752" y="201168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217920" y="1225296"/>
            <a:ext cx="2606040" cy="1975104"/>
          </a:xfrm>
          <a:prstGeom prst="roundRect">
            <a:avLst>
              <a:gd name="adj" fmla="val 3704"/>
            </a:avLst>
          </a:prstGeom>
          <a:solidFill>
            <a:srgbClr val="F1F5F3"/>
          </a:solidFill>
          <a:ln w="12700">
            <a:solidFill>
              <a:srgbClr val="F1F5F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7" name="Shape 15"/>
          <p:cNvSpPr/>
          <p:nvPr/>
        </p:nvSpPr>
        <p:spPr>
          <a:xfrm>
            <a:off x="6437376" y="1408176"/>
            <a:ext cx="384048" cy="384048"/>
          </a:xfrm>
          <a:prstGeom prst="ellipse">
            <a:avLst/>
          </a:prstGeom>
          <a:solidFill>
            <a:srgbClr val="2F8F7A"/>
          </a:solidFill>
          <a:ln w="12700">
            <a:solidFill>
              <a:srgbClr val="2F8F7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6"/>
          <p:cNvSpPr txBox="1"/>
          <p:nvPr/>
        </p:nvSpPr>
        <p:spPr>
          <a:xfrm>
            <a:off x="6437376" y="1408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0" y="142646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5C71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26k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437376" y="1883664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732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f-readability</a:t>
            </a:r>
            <a:endParaRPr lang="en-US" sz="125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F8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misura la chiarezza</a:t>
            </a:r>
            <a:endParaRPr lang="en-US" sz="125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05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leggibilità prima e dopo, con un indice pubblico: +11,7 e +1,7 punti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8842248" y="201168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9043416" y="1225296"/>
            <a:ext cx="2606040" cy="1975104"/>
          </a:xfrm>
          <a:prstGeom prst="roundRect">
            <a:avLst>
              <a:gd name="adj" fmla="val 3704"/>
            </a:avLst>
          </a:prstGeom>
          <a:solidFill>
            <a:srgbClr val="F1F5F3"/>
          </a:solidFill>
          <a:ln w="12700">
            <a:solidFill>
              <a:srgbClr val="F1F5F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3" name="Shape 21"/>
          <p:cNvSpPr/>
          <p:nvPr/>
        </p:nvSpPr>
        <p:spPr>
          <a:xfrm>
            <a:off x="9262872" y="1408176"/>
            <a:ext cx="384048" cy="384048"/>
          </a:xfrm>
          <a:prstGeom prst="ellipse">
            <a:avLst/>
          </a:prstGeom>
          <a:solidFill>
            <a:srgbClr val="B5502F"/>
          </a:solidFill>
          <a:ln w="12700">
            <a:solidFill>
              <a:srgbClr val="B5502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4" name="Text 22"/>
          <p:cNvSpPr txBox="1"/>
          <p:nvPr/>
        </p:nvSpPr>
        <p:spPr>
          <a:xfrm>
            <a:off x="9262872" y="1408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506456" y="142646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5C71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30k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9262872" y="1883664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732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f-clarity</a:t>
            </a:r>
            <a:endParaRPr lang="en-US" sz="125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B55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controlla il significato</a:t>
            </a:r>
            <a:endParaRPr lang="en-US" sz="125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05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confronto voce per voce fra originale e versione semplificata: 3 trovate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66928" y="3346704"/>
            <a:ext cx="54864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F0B429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8" name="Text 26"/>
          <p:cNvSpPr txBox="1"/>
          <p:nvPr/>
        </p:nvSpPr>
        <p:spPr>
          <a:xfrm>
            <a:off x="804672" y="3493008"/>
            <a:ext cx="502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17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controllo fra il passo 2 e il 3</a:t>
            </a:r>
            <a:endParaRPr lang="en-US" sz="13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10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 automatica che ogni criterio dichiarato abbia un test che lo cita. Se manca, il compito torna allo sviluppo con quel criterio specifico — non con un generico «completa i test». Dopo due iterazioni senza convergenza l'orchestratore si ferma e chiede.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236208" y="3346704"/>
            <a:ext cx="5394960" cy="1371600"/>
          </a:xfrm>
          <a:prstGeom prst="roundRect">
            <a:avLst>
              <a:gd name="adj" fmla="val 5333"/>
            </a:avLst>
          </a:prstGeom>
          <a:solidFill>
            <a:srgbClr val="F1F5F3"/>
          </a:solidFill>
          <a:ln w="12700">
            <a:solidFill>
              <a:srgbClr val="F1F5F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0" name="Text 28"/>
          <p:cNvSpPr txBox="1"/>
          <p:nvPr/>
        </p:nvSpPr>
        <p:spPr>
          <a:xfrm>
            <a:off x="6473952" y="3493008"/>
            <a:ext cx="4937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17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Quattro ruoli su nove non sono stati invocati</a:t>
            </a:r>
            <a:endParaRPr lang="en-US" sz="13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10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Progettazione dei test, esecuzione indipendente, review contro rubrica e avvocato del diavolo: saltati per tempo, con priorità ai tre deliverable. La decisione è dell'operatore e sta scritta nello stato della pipeline, con il nome di chi l'ha presa.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66928" y="4956048"/>
            <a:ext cx="2606040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2700">
            <a:solidFill>
              <a:srgbClr val="D5E0D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2" name="Text 30"/>
          <p:cNvSpPr txBox="1"/>
          <p:nvPr/>
        </p:nvSpPr>
        <p:spPr>
          <a:xfrm>
            <a:off x="768096" y="5047488"/>
            <a:ext cx="685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43C3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3000" dirty="0"/>
          </a:p>
        </p:txBody>
      </p:sp>
      <p:sp>
        <p:nvSpPr>
          <p:cNvPr id="33" name="Text 31"/>
          <p:cNvSpPr txBox="1"/>
          <p:nvPr/>
        </p:nvSpPr>
        <p:spPr>
          <a:xfrm>
            <a:off x="1527048" y="5102352"/>
            <a:ext cx="153619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1050" b="1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ruoli</a:t>
            </a:r>
            <a:endParaRPr lang="en-US" sz="105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95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ognuno con permessi distinti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3392424" y="4956048"/>
            <a:ext cx="2606040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2700">
            <a:solidFill>
              <a:srgbClr val="D5E0D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5" name="Text 33"/>
          <p:cNvSpPr txBox="1"/>
          <p:nvPr/>
        </p:nvSpPr>
        <p:spPr>
          <a:xfrm>
            <a:off x="3593592" y="5047488"/>
            <a:ext cx="685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43C3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36" name="Text 34"/>
          <p:cNvSpPr txBox="1"/>
          <p:nvPr/>
        </p:nvSpPr>
        <p:spPr>
          <a:xfrm>
            <a:off x="4352544" y="5102352"/>
            <a:ext cx="153619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1050" b="1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orchestratore</a:t>
            </a:r>
            <a:endParaRPr lang="en-US" sz="105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95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 e non esegue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217920" y="4956048"/>
            <a:ext cx="2606040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2700">
            <a:solidFill>
              <a:srgbClr val="D5E0D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8" name="Text 36"/>
          <p:cNvSpPr txBox="1"/>
          <p:nvPr/>
        </p:nvSpPr>
        <p:spPr>
          <a:xfrm>
            <a:off x="6419088" y="5047488"/>
            <a:ext cx="685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43C3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sp>
        <p:nvSpPr>
          <p:cNvPr id="39" name="Text 37"/>
          <p:cNvSpPr txBox="1"/>
          <p:nvPr/>
        </p:nvSpPr>
        <p:spPr>
          <a:xfrm>
            <a:off x="7178040" y="5102352"/>
            <a:ext cx="153619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1050" b="1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controlli automatici</a:t>
            </a:r>
            <a:endParaRPr lang="en-US" sz="105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95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bloccano, uno avvisa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9043416" y="4956048"/>
            <a:ext cx="2606040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2700">
            <a:solidFill>
              <a:srgbClr val="D5E0D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1" name="Text 39"/>
          <p:cNvSpPr txBox="1"/>
          <p:nvPr/>
        </p:nvSpPr>
        <p:spPr>
          <a:xfrm>
            <a:off x="9244584" y="5047488"/>
            <a:ext cx="685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43C3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000" dirty="0"/>
          </a:p>
        </p:txBody>
      </p:sp>
      <p:sp>
        <p:nvSpPr>
          <p:cNvPr id="42" name="Text 40"/>
          <p:cNvSpPr txBox="1"/>
          <p:nvPr/>
        </p:nvSpPr>
        <p:spPr>
          <a:xfrm>
            <a:off x="10003536" y="5102352"/>
            <a:ext cx="153619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1050" b="1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strumenti di misura</a:t>
            </a:r>
            <a:endParaRPr lang="en-US" sz="105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95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 riproducibili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566928" y="6053328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~700k token sull'intera pipeline. Il criterio di successo è «i tre deliverable esistono e la demo funziona», non «tutti i ruoli hanno contribuito».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46304"/>
            <a:ext cx="8595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43C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NOVE RUOLI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8404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7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Ogni ruolo esiste perché separa una responsabilità.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749808" y="122529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ruolo interno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615184" y="122529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cosa fa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852160" y="122529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cosa non fa, con la sua ragione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66928" y="1554480"/>
            <a:ext cx="11064240" cy="434340"/>
          </a:xfrm>
          <a:prstGeom prst="roundRect">
            <a:avLst>
              <a:gd name="adj" fmla="val 8421"/>
            </a:avLst>
          </a:prstGeom>
          <a:solidFill>
            <a:srgbClr val="F1F5F3"/>
          </a:solidFill>
          <a:ln w="12700">
            <a:solidFill>
              <a:srgbClr val="F1F5F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 txBox="1"/>
          <p:nvPr/>
        </p:nvSpPr>
        <p:spPr>
          <a:xfrm>
            <a:off x="749808" y="1609344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732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f-analyst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615184" y="1572768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F8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definisce lo scenario e i criteri verificabili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852160" y="1572768"/>
            <a:ext cx="5623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implementa: se scrivesse la soluzione, specifica e codice convergerebbero e nessuno verificherebbe che il secondo soddisfi la prima.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749808" y="2098548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732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f-dev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2615184" y="2061972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F8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costruisce l'app e scrive i test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5852160" y="2061972"/>
            <a:ext cx="5623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modifica la specifica: adattare il requisito a ciò che è stato scritto è la direzione sbagliata.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66928" y="2532888"/>
            <a:ext cx="11064240" cy="434340"/>
          </a:xfrm>
          <a:prstGeom prst="roundRect">
            <a:avLst>
              <a:gd name="adj" fmla="val 8421"/>
            </a:avLst>
          </a:prstGeom>
          <a:solidFill>
            <a:srgbClr val="F1F5F3"/>
          </a:solidFill>
          <a:ln w="12700">
            <a:solidFill>
              <a:srgbClr val="F1F5F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Text 13"/>
          <p:cNvSpPr txBox="1"/>
          <p:nvPr/>
        </p:nvSpPr>
        <p:spPr>
          <a:xfrm>
            <a:off x="749808" y="2587752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732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f-test-design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2615184" y="255117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F8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progetta i casi di test prima del codice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5852160" y="2551176"/>
            <a:ext cx="5623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può eseguirli: chi progetta i test e ha modo di lanciarli tende a scriverli perché passino.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749808" y="3076956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732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f-tester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2615184" y="3040380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F8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esegue i test e riporta i numeri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5852160" y="3040380"/>
            <a:ext cx="5623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corregge niente. Il suo esito vale proprio perché non ha modo di cambiarlo.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6928" y="3511296"/>
            <a:ext cx="11064240" cy="434340"/>
          </a:xfrm>
          <a:prstGeom prst="roundRect">
            <a:avLst>
              <a:gd name="adj" fmla="val 8421"/>
            </a:avLst>
          </a:prstGeom>
          <a:solidFill>
            <a:srgbClr val="F1F5F3"/>
          </a:solidFill>
          <a:ln w="12700">
            <a:solidFill>
              <a:srgbClr val="F1F5F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Text 20"/>
          <p:cNvSpPr txBox="1"/>
          <p:nvPr/>
        </p:nvSpPr>
        <p:spPr>
          <a:xfrm>
            <a:off x="749808" y="3566160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732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f-readability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2615184" y="3529584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F8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misura la leggibilità prima e dopo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5852160" y="3529584"/>
            <a:ext cx="5623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riscrive i testi che misura: potrebbe riformularli per alzare il punteggio.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749808" y="4055364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732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f-clarity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2615184" y="4018788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F8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 che il significato non sia cambiato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5852160" y="4018788"/>
            <a:ext cx="5623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corregge ciò che valuta: un valutatore che può sistemare segnala solo quello che sa sistemare.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66928" y="4489704"/>
            <a:ext cx="11064240" cy="434340"/>
          </a:xfrm>
          <a:prstGeom prst="roundRect">
            <a:avLst>
              <a:gd name="adj" fmla="val 8421"/>
            </a:avLst>
          </a:prstGeom>
          <a:solidFill>
            <a:srgbClr val="F1F5F3"/>
          </a:solidFill>
          <a:ln w="12700">
            <a:solidFill>
              <a:srgbClr val="F1F5F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9" name="Text 27"/>
          <p:cNvSpPr txBox="1"/>
          <p:nvPr/>
        </p:nvSpPr>
        <p:spPr>
          <a:xfrm>
            <a:off x="749808" y="4544568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732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f-critic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2615184" y="4507992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F8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valuta contro rubriche esplicite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5852160" y="4507992"/>
            <a:ext cx="5623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propone soluzioni: ogni giudizio deve citare il criterio su cui si basa.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749808" y="5033772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732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f-devil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2615184" y="499719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F8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cerca il fraintendimento possibile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5852160" y="4997196"/>
            <a:ext cx="5623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risolve: mostra la conclusione sbagliata che la persona trarrebbe da un testo formalmente corretto.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566928" y="5468112"/>
            <a:ext cx="11064240" cy="434340"/>
          </a:xfrm>
          <a:prstGeom prst="roundRect">
            <a:avLst>
              <a:gd name="adj" fmla="val 8421"/>
            </a:avLst>
          </a:prstGeom>
          <a:solidFill>
            <a:srgbClr val="F1F5F3"/>
          </a:solidFill>
          <a:ln w="12700">
            <a:solidFill>
              <a:srgbClr val="F1F5F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6" name="Text 34"/>
          <p:cNvSpPr txBox="1"/>
          <p:nvPr/>
        </p:nvSpPr>
        <p:spPr>
          <a:xfrm>
            <a:off x="749808" y="5522976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732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/f-orc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2615184" y="5486400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F8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coordina, instrada, tiene lo stato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5852160" y="5486400"/>
            <a:ext cx="5623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produce i deliverable: se li scrivesse, chi coordina e chi esegue sarebbero la stessa cosa.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566928" y="5989320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permessi non sono una convenzione fra noi: stanno nella configurazione del sistema e un controllo automatico li applica a ogni scrittura, con il motivo allegato al divieto.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46304"/>
            <a:ext cx="8595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43C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L'ARGOMENTO SULL'ARCHITETTURA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8404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7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Ogni deliverable ha un proprietario e un verificatore.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152144"/>
            <a:ext cx="11064240" cy="512064"/>
          </a:xfrm>
          <a:prstGeom prst="roundRect">
            <a:avLst>
              <a:gd name="adj" fmla="val 14286"/>
            </a:avLst>
          </a:prstGeom>
          <a:solidFill>
            <a:srgbClr val="17323A"/>
          </a:solidFill>
          <a:ln w="12700">
            <a:solidFill>
              <a:srgbClr val="17323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5" name="Text 3"/>
          <p:cNvSpPr txBox="1"/>
          <p:nvPr/>
        </p:nvSpPr>
        <p:spPr>
          <a:xfrm>
            <a:off x="822960" y="1252728"/>
            <a:ext cx="10607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500"/>
              </a:spcAft>
              <a:buNone/>
            </a:pPr>
            <a:r>
              <a:rPr lang="en-US" sz="12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nomi con la f sono i ruoli interni del sistema: agenti distinti dentro Flèche, non persone e non servizi esterni.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66928" y="1773936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0D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Shape 5"/>
          <p:cNvSpPr/>
          <p:nvPr/>
        </p:nvSpPr>
        <p:spPr>
          <a:xfrm>
            <a:off x="804672" y="1975104"/>
            <a:ext cx="548640" cy="548640"/>
          </a:xfrm>
          <a:prstGeom prst="ellipse">
            <a:avLst/>
          </a:prstGeom>
          <a:solidFill>
            <a:srgbClr val="17323A"/>
          </a:solidFill>
          <a:ln w="12700">
            <a:solidFill>
              <a:srgbClr val="17323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 txBox="1"/>
          <p:nvPr/>
        </p:nvSpPr>
        <p:spPr>
          <a:xfrm>
            <a:off x="804672" y="197510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0B4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536192" y="1892808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7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User Difficulty Statement</a:t>
            </a:r>
            <a:endParaRPr lang="en-US" sz="13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2F8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proprietario: f-analyst</a:t>
            </a:r>
            <a:endParaRPr lang="en-US" sz="13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050" dirty="0">
                <a:solidFill>
                  <a:srgbClr val="B55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verificato da: f-critic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715000" y="1956816"/>
            <a:ext cx="5715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10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review passa una rubrica esplicita: lo scenario è uno solo? ogni criterio è verificabile con un test? la capability software è identificabile?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2807208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1F5F3"/>
          </a:solidFill>
          <a:ln w="12700">
            <a:solidFill>
              <a:srgbClr val="F1F5F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Shape 10"/>
          <p:cNvSpPr/>
          <p:nvPr/>
        </p:nvSpPr>
        <p:spPr>
          <a:xfrm>
            <a:off x="804672" y="3008376"/>
            <a:ext cx="548640" cy="548640"/>
          </a:xfrm>
          <a:prstGeom prst="ellipse">
            <a:avLst/>
          </a:prstGeom>
          <a:solidFill>
            <a:srgbClr val="17323A"/>
          </a:solidFill>
          <a:ln w="12700">
            <a:solidFill>
              <a:srgbClr val="17323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3" name="Text 11"/>
          <p:cNvSpPr txBox="1"/>
          <p:nvPr/>
        </p:nvSpPr>
        <p:spPr>
          <a:xfrm>
            <a:off x="804672" y="300837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0B4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536192" y="2926080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7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 / After Simplicity</a:t>
            </a:r>
            <a:endParaRPr lang="en-US" sz="13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2F8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proprietario: f-readability</a:t>
            </a:r>
            <a:endParaRPr lang="en-US" sz="13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050" dirty="0">
                <a:solidFill>
                  <a:srgbClr val="B55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verificato da: l'indice Gulpease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715000" y="2990088"/>
            <a:ext cx="5715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10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il verificatore non è un ruolo ma una misura esterna: un numero che chiunque riottiene applicando la stessa formula agli stessi testi.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384048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0D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7" name="Shape 15"/>
          <p:cNvSpPr/>
          <p:nvPr/>
        </p:nvSpPr>
        <p:spPr>
          <a:xfrm>
            <a:off x="804672" y="4041648"/>
            <a:ext cx="548640" cy="548640"/>
          </a:xfrm>
          <a:prstGeom prst="ellipse">
            <a:avLst/>
          </a:prstGeom>
          <a:solidFill>
            <a:srgbClr val="17323A"/>
          </a:solidFill>
          <a:ln w="12700">
            <a:solidFill>
              <a:srgbClr val="17323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6"/>
          <p:cNvSpPr txBox="1"/>
          <p:nvPr/>
        </p:nvSpPr>
        <p:spPr>
          <a:xfrm>
            <a:off x="804672" y="40416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0B4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536192" y="3959352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7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 &amp; Clarity Note</a:t>
            </a:r>
            <a:endParaRPr lang="en-US" sz="13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2F8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proprietario: f-clarity</a:t>
            </a:r>
            <a:endParaRPr lang="en-US" sz="13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050" dirty="0">
                <a:solidFill>
                  <a:srgbClr val="B55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verificato da: f-devil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715000" y="4023360"/>
            <a:ext cx="5715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10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f-devil legge la versione semplificata senza l'originale davanti e scrive le conclusioni sbagliate che ne trarrebbe. Poi le confronta.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4919472"/>
            <a:ext cx="11064240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43C3A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Text 20"/>
          <p:cNvSpPr txBox="1"/>
          <p:nvPr/>
        </p:nvSpPr>
        <p:spPr>
          <a:xfrm>
            <a:off x="822960" y="5047488"/>
            <a:ext cx="106070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cos'è l'indice Gulpease, e da dove viene</a:t>
            </a:r>
            <a:endParaRPr lang="en-US" sz="12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0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l'abbiamo inventato noi. È una formula di leggibilità pubblicata nel 1988 da Pietro Lucisano e Maria Emanuela Piemontese, del Gruppo Universitario Linguistico Pedagogico della Sapienza, ed è costruita sull'italiano: conta lettere, parole e frasi invece delle sillabe, come fanno gli indici tarati sull'inglese. Il nostro prima/dopo è quindi confrontabile con quello di chiunque altro.</a:t>
            </a:r>
            <a:endParaRPr lang="en-US" sz="125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950" dirty="0">
                <a:solidFill>
                  <a:srgbClr val="2F8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100–80 licenza elementare   ·   80–60 licenza media   ·   60–40 diploma superiore   ·   sotto 40 difficile per la maggior parte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6272784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 produce non verifica, e chi verifica non ha il permesso di correggere. È l'unico modo perché un rilievo significhi qualcosa.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46304"/>
            <a:ext cx="8595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43C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VERIFICA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8404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7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Progettati prima del codice, e ognuno cita il criterio.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225296"/>
            <a:ext cx="5349240" cy="1810512"/>
          </a:xfrm>
          <a:prstGeom prst="roundRect">
            <a:avLst>
              <a:gd name="adj" fmla="val 4040"/>
            </a:avLst>
          </a:prstGeom>
          <a:solidFill>
            <a:srgbClr val="17323A"/>
          </a:solidFill>
          <a:ln w="12700">
            <a:solidFill>
              <a:srgbClr val="17323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5" name="Text 3"/>
          <p:cNvSpPr txBox="1"/>
          <p:nvPr/>
        </p:nvSpPr>
        <p:spPr>
          <a:xfrm>
            <a:off x="804672" y="1389888"/>
            <a:ext cx="4892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F0B4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Perché progettarli prima</a:t>
            </a:r>
            <a:endParaRPr lang="en-US" sz="14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1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È l'unica condizione in cui un test verifica il requisito invece del codice: chi scrive un test conoscendo la funzione produce un test che conferma quella funzione.</a:t>
            </a:r>
            <a:endParaRPr lang="en-US" sz="14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150" dirty="0">
                <a:solidFill>
                  <a:srgbClr val="43C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Conseguenza pratica: se per progettare un caso serve sapere come sarà implementato, il caso è mal formulato.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281928" y="1225296"/>
            <a:ext cx="5349240" cy="1810512"/>
          </a:xfrm>
          <a:prstGeom prst="roundRect">
            <a:avLst>
              <a:gd name="adj" fmla="val 4040"/>
            </a:avLst>
          </a:prstGeom>
          <a:solidFill>
            <a:srgbClr val="F1F5F3"/>
          </a:solidFill>
          <a:ln w="12700">
            <a:solidFill>
              <a:srgbClr val="F1F5F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Text 5"/>
          <p:cNvSpPr txBox="1"/>
          <p:nvPr/>
        </p:nvSpPr>
        <p:spPr>
          <a:xfrm>
            <a:off x="6519672" y="1389888"/>
            <a:ext cx="4892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17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scorciatoia che dichiariamo</a:t>
            </a:r>
            <a:endParaRPr lang="en-US" sz="14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15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ruolo dedicato alla progettazione dei test esiste nel sistema ma non è stato invocato: per tempo, lo sviluppo ha scritto i test insieme al codice.</a:t>
            </a:r>
            <a:endParaRPr lang="en-US" sz="14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150" i="1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Dirlo è più solido che nasconderlo, ed è la stessa sezione dello stato in cui è registrato chi ha deciso cosa.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3200400"/>
            <a:ext cx="6903720" cy="1975104"/>
          </a:xfrm>
          <a:prstGeom prst="roundRect">
            <a:avLst>
              <a:gd name="adj" fmla="val 2778"/>
            </a:avLst>
          </a:prstGeom>
          <a:solidFill>
            <a:srgbClr val="0A1512"/>
          </a:solidFill>
          <a:ln w="12700">
            <a:solidFill>
              <a:srgbClr val="27403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9" name="Text 7"/>
          <p:cNvSpPr txBox="1"/>
          <p:nvPr/>
        </p:nvSpPr>
        <p:spPr>
          <a:xfrm>
            <a:off x="731520" y="3319272"/>
            <a:ext cx="657453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93AD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ogni test porta nel nome il criterio che verifica</a:t>
            </a:r>
            <a:endParaRPr lang="en-US" sz="10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F4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F0B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test('D1: un taglio da 12 €/mese → 11 mesi guadagnati (±1)')</a:t>
            </a:r>
            <a:endParaRPr lang="en-US" sz="10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F4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test('D5: con risparmio a zero si passa ai giorni di stipendio')</a:t>
            </a:r>
            <a:endParaRPr lang="en-US" sz="10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F4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test('D7: le 8 domande di consiglio sono tutte intercettate')</a:t>
            </a:r>
            <a:endParaRPr lang="en-US" sz="10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F4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test('D8: le parole proibite non compaiono nella risposta')</a:t>
            </a:r>
            <a:endParaRPr lang="en-US" sz="10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F4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test('D18: nessun numero a schermo mostra artefatti di calcolo')</a:t>
            </a:r>
            <a:endParaRPr lang="en-US" sz="10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F4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93AD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valori attesi dichiarati in testa alla suite:  4.500 = 1.500 × 3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699248" y="3200400"/>
            <a:ext cx="3931920" cy="603504"/>
          </a:xfrm>
          <a:prstGeom prst="roundRect">
            <a:avLst>
              <a:gd name="adj" fmla="val 12121"/>
            </a:avLst>
          </a:prstGeom>
          <a:solidFill>
            <a:srgbClr val="F1F5F3"/>
          </a:solidFill>
          <a:ln w="12700">
            <a:solidFill>
              <a:srgbClr val="F1F5F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Text 9"/>
          <p:cNvSpPr txBox="1"/>
          <p:nvPr/>
        </p:nvSpPr>
        <p:spPr>
          <a:xfrm>
            <a:off x="7882128" y="3255264"/>
            <a:ext cx="1097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43C3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9070848" y="32918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automatici</a:t>
            </a:r>
            <a:endParaRPr lang="en-US" sz="11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95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 sul calcolo + 2 sull'interfaccia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699248" y="3895344"/>
            <a:ext cx="3931920" cy="603504"/>
          </a:xfrm>
          <a:prstGeom prst="roundRect">
            <a:avLst>
              <a:gd name="adj" fmla="val 12121"/>
            </a:avLst>
          </a:prstGeom>
          <a:solidFill>
            <a:srgbClr val="F1F5F3"/>
          </a:solidFill>
          <a:ln w="12700">
            <a:solidFill>
              <a:srgbClr val="F1F5F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4" name="Text 12"/>
          <p:cNvSpPr txBox="1"/>
          <p:nvPr/>
        </p:nvSpPr>
        <p:spPr>
          <a:xfrm>
            <a:off x="7882128" y="3950208"/>
            <a:ext cx="1097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43C3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2100" dirty="0"/>
          </a:p>
        </p:txBody>
      </p:sp>
      <p:sp>
        <p:nvSpPr>
          <p:cNvPr id="15" name="Text 13"/>
          <p:cNvSpPr txBox="1"/>
          <p:nvPr/>
        </p:nvSpPr>
        <p:spPr>
          <a:xfrm>
            <a:off x="9070848" y="3986784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gruppi di verifica</a:t>
            </a:r>
            <a:endParaRPr lang="en-US" sz="11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95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uno per criterio o requisito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699248" y="4590288"/>
            <a:ext cx="3931920" cy="603504"/>
          </a:xfrm>
          <a:prstGeom prst="roundRect">
            <a:avLst>
              <a:gd name="adj" fmla="val 12121"/>
            </a:avLst>
          </a:prstGeom>
          <a:solidFill>
            <a:srgbClr val="F1F5F3"/>
          </a:solidFill>
          <a:ln w="12700">
            <a:solidFill>
              <a:srgbClr val="F1F5F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7" name="Text 15"/>
          <p:cNvSpPr txBox="1"/>
          <p:nvPr/>
        </p:nvSpPr>
        <p:spPr>
          <a:xfrm>
            <a:off x="7882128" y="4645152"/>
            <a:ext cx="1097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43C3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18+8</a:t>
            </a:r>
            <a:endParaRPr lang="en-US" sz="2100" dirty="0"/>
          </a:p>
        </p:txBody>
      </p:sp>
      <p:sp>
        <p:nvSpPr>
          <p:cNvPr id="18" name="Text 16"/>
          <p:cNvSpPr txBox="1"/>
          <p:nvPr/>
        </p:nvSpPr>
        <p:spPr>
          <a:xfrm>
            <a:off x="9070848" y="4681728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 tracciati</a:t>
            </a:r>
            <a:endParaRPr lang="en-US" sz="11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95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completamento e regole non negoziabili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66928" y="5340096"/>
            <a:ext cx="1106424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7323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0" name="Text 18"/>
          <p:cNvSpPr txBox="1"/>
          <p:nvPr/>
        </p:nvSpPr>
        <p:spPr>
          <a:xfrm>
            <a:off x="822960" y="5468112"/>
            <a:ext cx="10607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500"/>
              </a:spcAft>
              <a:buNone/>
            </a:pPr>
            <a:r>
              <a:rPr lang="en-US" sz="1150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divieto di consulenza è verificato anche nel codice: nessuna funzione che ordini opzioni per convenienza, nessun messaggio che suggerisca una scelta, nessun valore predefinito che orienti la decisione. Tre test cercano quelle forme in tutto il codice consegnato.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6199632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citazione del criterio nel nome del test è una regola imposta allo sviluppo, non una buona abitudine: è ciò che rende calcolabile la mappa della slide seguente.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46304"/>
            <a:ext cx="8595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43C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COSA I TEST COPRONO DAVVERO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84048"/>
            <a:ext cx="11338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7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Dal criterio dichiarato al test, con un controllo automatico.</a:t>
            </a:r>
            <a:endParaRPr lang="en-US" sz="26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566928" y="1225296"/>
          <a:ext cx="6675120" cy="4023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7479792" y="1225296"/>
            <a:ext cx="4151376" cy="1280160"/>
          </a:xfrm>
          <a:prstGeom prst="roundRect">
            <a:avLst>
              <a:gd name="adj" fmla="val 5714"/>
            </a:avLst>
          </a:prstGeom>
          <a:solidFill>
            <a:srgbClr val="17323A"/>
          </a:solidFill>
          <a:ln w="12700">
            <a:solidFill>
              <a:srgbClr val="17323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3"/>
          <p:cNvSpPr txBox="1"/>
          <p:nvPr/>
        </p:nvSpPr>
        <p:spPr>
          <a:xfrm>
            <a:off x="7717536" y="1362456"/>
            <a:ext cx="36758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F0B4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 dei 18 criteri</a:t>
            </a:r>
            <a:endParaRPr lang="en-US" sz="15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hanno almeno un test che li cita per nome. Il conteggio è automatico, non una lettura: chiunque lo rifà in un secondo.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7479792" y="2633472"/>
            <a:ext cx="4151376" cy="1280160"/>
          </a:xfrm>
          <a:prstGeom prst="roundRect">
            <a:avLst>
              <a:gd name="adj" fmla="val 5714"/>
            </a:avLst>
          </a:prstGeom>
          <a:solidFill>
            <a:srgbClr val="F1F5F3"/>
          </a:solidFill>
          <a:ln w="12700">
            <a:solidFill>
              <a:srgbClr val="F1F5F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5"/>
          <p:cNvSpPr txBox="1"/>
          <p:nvPr/>
        </p:nvSpPr>
        <p:spPr>
          <a:xfrm>
            <a:off x="7717536" y="2770632"/>
            <a:ext cx="36758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7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7 restanti sono di interfaccia</a:t>
            </a:r>
            <a:endParaRPr lang="en-US" sz="13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10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Struttura delle pagine e accessibilità: verificati dai due test sull'interfaccia e a mano. Detto, non nascosto in un totale.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7479792" y="4041648"/>
            <a:ext cx="4151376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B5502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7"/>
          <p:cNvSpPr txBox="1"/>
          <p:nvPr/>
        </p:nvSpPr>
        <p:spPr>
          <a:xfrm>
            <a:off x="7717536" y="4178808"/>
            <a:ext cx="36758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B55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Cosa ha trovato il controllo</a:t>
            </a:r>
            <a:endParaRPr lang="en-US" sz="13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10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criteri sono stati rinumerati quando la specifica è passata alla versione 4.1. Il controllo riporta il collegamento rotto invece di dare un verde di comodo.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66928" y="5431536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17323A"/>
          </a:solidFill>
          <a:ln w="12700">
            <a:solidFill>
              <a:srgbClr val="17323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Text 9"/>
          <p:cNvSpPr txBox="1"/>
          <p:nvPr/>
        </p:nvSpPr>
        <p:spPr>
          <a:xfrm>
            <a:off x="822960" y="555040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criterio senza test non è un criterio: è un'intenzione.</a:t>
            </a:r>
            <a:endParaRPr lang="en-US" sz="12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0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controllo dichiara il proprio limite: verifica che un test citi il criterio, non che lo eserciti. E si ferma dopo due iterazioni: un ciclo che non converge consuma il tempo dei deliverable.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6236208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grafico conta i test per criterio sul codice consegnato: D1, i valori attesi del motore di calcolo, ne ha 29 da solo.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46304"/>
            <a:ext cx="8595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43C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L'ITERAZIONE · I TEST NEL TEMPO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84048"/>
            <a:ext cx="11338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7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test si rieseguono a ogni iterazione, e crescono con la feature.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749808" y="120700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iterazione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697480" y="1207008"/>
            <a:ext cx="4069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cosa è cambiato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6903720" y="120700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8046720" y="120700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esito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9692640" y="120700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66928" y="1517904"/>
            <a:ext cx="11064240" cy="603504"/>
          </a:xfrm>
          <a:prstGeom prst="roundRect">
            <a:avLst>
              <a:gd name="adj" fmla="val 6061"/>
            </a:avLst>
          </a:prstGeom>
          <a:solidFill>
            <a:srgbClr val="F1F5F3"/>
          </a:solidFill>
          <a:ln w="12700">
            <a:solidFill>
              <a:srgbClr val="F1F5F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 txBox="1"/>
          <p:nvPr/>
        </p:nvSpPr>
        <p:spPr>
          <a:xfrm>
            <a:off x="749808" y="1591056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732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f-dev v1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2697480" y="1554480"/>
            <a:ext cx="4069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 implementazione sulla spec v1: fixture calcolati su parametri poi superati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903720" y="1591056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7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—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8046720" y="1554480"/>
            <a:ext cx="1600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B55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conforme, scartata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9784080" y="1591056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C71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82k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749808" y="224942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732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f-dev v3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2697480" y="2212848"/>
            <a:ext cx="4069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 v3 completo: engine, guardrail, 5 sezioni, percorso a tappe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6903720" y="2249424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7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61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046720" y="2212848"/>
            <a:ext cx="1600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F8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 / 61 verdi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9784080" y="2249424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C71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120k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2834640"/>
            <a:ext cx="11064240" cy="603504"/>
          </a:xfrm>
          <a:prstGeom prst="roundRect">
            <a:avLst>
              <a:gd name="adj" fmla="val 6061"/>
            </a:avLst>
          </a:prstGeom>
          <a:solidFill>
            <a:srgbClr val="F1F5F3"/>
          </a:solidFill>
          <a:ln w="12700">
            <a:solidFill>
              <a:srgbClr val="F1F5F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1" name="Text 19"/>
          <p:cNvSpPr txBox="1"/>
          <p:nvPr/>
        </p:nvSpPr>
        <p:spPr>
          <a:xfrm>
            <a:off x="749808" y="290779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732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splash + asset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2697480" y="2871216"/>
            <a:ext cx="4069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SplashScreen e asset Isekai, nessuna modifica all'engine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903720" y="2907792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7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61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8046720" y="2871216"/>
            <a:ext cx="1600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F8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 / 61 verdi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9784080" y="2907792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C71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28k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749808" y="35661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732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f-dev v4.1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2697480" y="3529584"/>
            <a:ext cx="4069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di emergenza, capitaleDisponibile, 9 tappe come pagine piene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6903720" y="35661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7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8046720" y="3529584"/>
            <a:ext cx="1600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 test nuovi, fixture §5.5 riscritti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9784080" y="35661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C71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300k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4151376"/>
            <a:ext cx="11064240" cy="603504"/>
          </a:xfrm>
          <a:prstGeom prst="roundRect">
            <a:avLst>
              <a:gd name="adj" fmla="val 6061"/>
            </a:avLst>
          </a:prstGeom>
          <a:solidFill>
            <a:srgbClr val="F1F5F3"/>
          </a:solidFill>
          <a:ln w="12700">
            <a:solidFill>
              <a:srgbClr val="F1F5F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2" name="Text 30"/>
          <p:cNvSpPr txBox="1"/>
          <p:nvPr/>
        </p:nvSpPr>
        <p:spPr>
          <a:xfrm>
            <a:off x="749808" y="422452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732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level-up · T7 · T8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2697480" y="4187952"/>
            <a:ext cx="4069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animazione, doppia curva rischio/rendimento, redesign costo del capitale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6903720" y="422452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7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8046720" y="4187952"/>
            <a:ext cx="1600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suite invariata, nessuna regressione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9784080" y="422452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C71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98k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566928" y="4956048"/>
            <a:ext cx="5422392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17323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8" name="Text 36"/>
          <p:cNvSpPr txBox="1"/>
          <p:nvPr/>
        </p:nvSpPr>
        <p:spPr>
          <a:xfrm>
            <a:off x="804672" y="5084064"/>
            <a:ext cx="4983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regola sull'aggiornamento</a:t>
            </a:r>
            <a:endParaRPr lang="en-US" sz="12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10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test non vengono riscritti per far passare il codice. Quando il brief cambia, cambiano i fixture dichiarati nell'intestazione — e il valore atteso nuovo è ricalcolabile a mano dai parametri.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208776" y="4956048"/>
            <a:ext cx="5422392" cy="1060704"/>
          </a:xfrm>
          <a:prstGeom prst="roundRect">
            <a:avLst>
              <a:gd name="adj" fmla="val 6897"/>
            </a:avLst>
          </a:prstGeom>
          <a:solidFill>
            <a:srgbClr val="F1F5F3"/>
          </a:solidFill>
          <a:ln w="12700">
            <a:solidFill>
              <a:srgbClr val="F1F5F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0" name="Text 38"/>
          <p:cNvSpPr txBox="1"/>
          <p:nvPr/>
        </p:nvSpPr>
        <p:spPr>
          <a:xfrm>
            <a:off x="6446520" y="5084064"/>
            <a:ext cx="4983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 esegue non corregge</a:t>
            </a:r>
            <a:endParaRPr lang="en-US" sz="12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10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f-tester ha Read e Bash, nessun permesso di scrittura: riporta «9 passed, 2 failed» con nome e riga dei falliti, non «il codice sembra solido». Il suo esito vale perché non ha modo di cambiarlo.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566928" y="6144768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Esiti 61/61 registrati in docs/pipeline/stato.md ai passi 2b e 2c. Conteggio verificato sul repository consegnato: 78 unitari + 2 widget.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7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46304"/>
            <a:ext cx="8595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CONTROLLI · OUTPUT REALE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84048"/>
            <a:ext cx="11338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4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 controlli. Due bloccano, uno avvisa — e non per caso.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07008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4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· perimetro-sviluppo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499616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B55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PreToolUse · BLOCCA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66928" y="1810512"/>
            <a:ext cx="3520440" cy="1481328"/>
          </a:xfrm>
          <a:prstGeom prst="roundRect">
            <a:avLst>
              <a:gd name="adj" fmla="val 3704"/>
            </a:avLst>
          </a:prstGeom>
          <a:solidFill>
            <a:srgbClr val="0A1512"/>
          </a:solidFill>
          <a:ln w="12700">
            <a:solidFill>
              <a:srgbClr val="4A2A2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Text 5"/>
          <p:cNvSpPr txBox="1"/>
          <p:nvPr/>
        </p:nvSpPr>
        <p:spPr>
          <a:xfrm>
            <a:off x="731520" y="1929384"/>
            <a:ext cx="319125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950" dirty="0">
                <a:solidFill>
                  <a:srgbClr val="93AD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Write  src/../../../etc/passwd</a:t>
            </a:r>
            <a:endParaRPr lang="en-US" sz="9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B55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FLÈCHE — SCRITTURA FUORI DAL</a:t>
            </a:r>
            <a:endParaRPr lang="en-US" sz="9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B55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PERIMETRO DI SVILUPPO</a:t>
            </a:r>
            <a:endParaRPr lang="en-US" sz="9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950" dirty="0">
                <a:solidFill>
                  <a:srgbClr val="F4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motivo: fuori dal progetto</a:t>
            </a:r>
            <a:endParaRPr lang="en-US" sz="9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950" dirty="0">
                <a:solidFill>
                  <a:srgbClr val="93AD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 code 2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66928" y="3419856"/>
            <a:ext cx="3520440" cy="1517904"/>
          </a:xfrm>
          <a:prstGeom prst="roundRect">
            <a:avLst>
              <a:gd name="adj" fmla="val 4819"/>
            </a:avLst>
          </a:prstGeom>
          <a:solidFill>
            <a:srgbClr val="152420"/>
          </a:solidFill>
          <a:ln w="12700">
            <a:solidFill>
              <a:srgbClr val="2B453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9" name="Text 7"/>
          <p:cNvSpPr txBox="1"/>
          <p:nvPr/>
        </p:nvSpPr>
        <p:spPr>
          <a:xfrm>
            <a:off x="786384" y="3566160"/>
            <a:ext cx="3108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050" dirty="0">
                <a:solidFill>
                  <a:srgbClr val="93A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percorso è risolto — risalite e symlink inclusi — prima di essere valutato. Un confronto sul solo prefisso lasciava passare tre livelli di risalita: buco trovato e chiuso in corsa.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4343400" y="1207008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4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· capability-guard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343400" y="1499616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B55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PreToolUse · BLOCCA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343400" y="1810512"/>
            <a:ext cx="3520440" cy="1481328"/>
          </a:xfrm>
          <a:prstGeom prst="roundRect">
            <a:avLst>
              <a:gd name="adj" fmla="val 3704"/>
            </a:avLst>
          </a:prstGeom>
          <a:solidFill>
            <a:srgbClr val="0A1512"/>
          </a:solidFill>
          <a:ln w="12700">
            <a:solidFill>
              <a:srgbClr val="4A2A2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3" name="Text 11"/>
          <p:cNvSpPr txBox="1"/>
          <p:nvPr/>
        </p:nvSpPr>
        <p:spPr>
          <a:xfrm>
            <a:off x="4507992" y="1929384"/>
            <a:ext cx="319125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950" dirty="0">
                <a:solidFill>
                  <a:srgbClr val="93AD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f-clarity scrive nel codice</a:t>
            </a:r>
            <a:endParaRPr lang="en-US" sz="9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B55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FLÈCHE — SCRITTURA FUORI SCOPE</a:t>
            </a:r>
            <a:endParaRPr lang="en-US" sz="9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950" dirty="0">
                <a:solidFill>
                  <a:srgbClr val="F4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agente: f-clarity</a:t>
            </a:r>
            <a:endParaRPr lang="en-US" sz="9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950" dirty="0">
                <a:solidFill>
                  <a:srgbClr val="F4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ambito: solo i propri report</a:t>
            </a:r>
            <a:endParaRPr lang="en-US" sz="9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950" dirty="0">
                <a:solidFill>
                  <a:srgbClr val="F4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consentito: i report di chiarezza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343400" y="3419856"/>
            <a:ext cx="3520440" cy="1517904"/>
          </a:xfrm>
          <a:prstGeom prst="roundRect">
            <a:avLst>
              <a:gd name="adj" fmla="val 4819"/>
            </a:avLst>
          </a:prstGeom>
          <a:solidFill>
            <a:srgbClr val="152420"/>
          </a:solidFill>
          <a:ln w="12700">
            <a:solidFill>
              <a:srgbClr val="2B453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Text 13"/>
          <p:cNvSpPr txBox="1"/>
          <p:nvPr/>
        </p:nvSpPr>
        <p:spPr>
          <a:xfrm>
            <a:off x="4562856" y="3566160"/>
            <a:ext cx="3108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050" dirty="0">
                <a:solidFill>
                  <a:srgbClr val="93A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messaggio di blocco riporta la ragione dichiarata nella configurazione: «se potesse modificare il codice, valuterebbe il proprio lavoro». Il motivo arriva insieme al divieto.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8119872" y="1207008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4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· codice-non-consiglia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119872" y="1499616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PostToolUse · AVVISA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119872" y="1810512"/>
            <a:ext cx="3520440" cy="1481328"/>
          </a:xfrm>
          <a:prstGeom prst="roundRect">
            <a:avLst>
              <a:gd name="adj" fmla="val 3704"/>
            </a:avLst>
          </a:prstGeom>
          <a:solidFill>
            <a:srgbClr val="0A1512"/>
          </a:solidFill>
          <a:ln w="12700">
            <a:solidFill>
              <a:srgbClr val="5A4A1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9" name="Text 17"/>
          <p:cNvSpPr txBox="1"/>
          <p:nvPr/>
        </p:nvSpPr>
        <p:spPr>
          <a:xfrm>
            <a:off x="8284464" y="1929384"/>
            <a:ext cx="319125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950" dirty="0">
                <a:solidFill>
                  <a:srgbClr val="93AD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scrittura in una schermata</a:t>
            </a:r>
            <a:endParaRPr lang="en-US" sz="9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F0B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POSSIBILE CONSIGLIO NEL CODICE</a:t>
            </a:r>
            <a:endParaRPr lang="en-US" sz="9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950" dirty="0">
                <a:solidFill>
                  <a:srgbClr val="F4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riga 1 ordinamento_per_conven.</a:t>
            </a:r>
            <a:endParaRPr lang="en-US" sz="9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950" dirty="0">
                <a:solidFill>
                  <a:srgbClr val="F4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riga 6 etichetta_di_merito</a:t>
            </a:r>
            <a:endParaRPr lang="en-US" sz="9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950" dirty="0">
                <a:solidFill>
                  <a:srgbClr val="F4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riga 7 suggerimento_esplicito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8119872" y="3419856"/>
            <a:ext cx="3520440" cy="1517904"/>
          </a:xfrm>
          <a:prstGeom prst="roundRect">
            <a:avLst>
              <a:gd name="adj" fmla="val 4819"/>
            </a:avLst>
          </a:prstGeom>
          <a:solidFill>
            <a:srgbClr val="152420"/>
          </a:solidFill>
          <a:ln w="12700">
            <a:solidFill>
              <a:srgbClr val="2B453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1" name="Text 19"/>
          <p:cNvSpPr txBox="1"/>
          <p:nvPr/>
        </p:nvSpPr>
        <p:spPr>
          <a:xfrm>
            <a:off x="8339328" y="3566160"/>
            <a:ext cx="3108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050" dirty="0">
                <a:solidFill>
                  <a:srgbClr val="93A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Avvisa e non blocca perché produce più falsi positivi che falsi negativi: un sort per data somiglia a uno per merito. Un controllo rumoroso che blocca viene disattivato in dieci minuti.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66928" y="5065776"/>
            <a:ext cx="11064240" cy="932688"/>
          </a:xfrm>
          <a:prstGeom prst="roundRect">
            <a:avLst>
              <a:gd name="adj" fmla="val 7843"/>
            </a:avLst>
          </a:prstGeom>
          <a:solidFill>
            <a:srgbClr val="0A1512"/>
          </a:solidFill>
          <a:ln w="12700">
            <a:solidFill>
              <a:srgbClr val="43C3A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3" name="Text 21"/>
          <p:cNvSpPr txBox="1"/>
          <p:nvPr/>
        </p:nvSpPr>
        <p:spPr>
          <a:xfrm>
            <a:off x="822960" y="5193792"/>
            <a:ext cx="10607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250" b="1" dirty="0">
                <a:solidFill>
                  <a:srgbClr val="43C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L'installatore non si fida di sé stesso</a:t>
            </a:r>
            <a:endParaRPr lang="en-US" sz="125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100" dirty="0">
                <a:solidFill>
                  <a:srgbClr val="93A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l'installatore rileva l'interprete, scrive la configurazione e poi esegue quattro prove reali — consente, nega, consente, nega. Un controllo che c'è ma non parte non produce nessun segnale: l'azione passa e chi usa il sistema crede di avere protezioni che non ha.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566928" y="6089904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93A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Tutti gli output di questa slide sono riprodotti eseguendo i controlli sul pacchetto consegnato.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17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46304"/>
            <a:ext cx="8595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CINQUE ORE, DUE PERSONE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84048"/>
            <a:ext cx="8595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4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Cosa esiste a fine pipeline.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3520440" cy="1920240"/>
          </a:xfrm>
          <a:prstGeom prst="roundRect">
            <a:avLst>
              <a:gd name="adj" fmla="val 3810"/>
            </a:avLst>
          </a:prstGeom>
          <a:solidFill>
            <a:srgbClr val="152420"/>
          </a:solidFill>
          <a:ln w="12700">
            <a:solidFill>
              <a:srgbClr val="2B453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5" name="Text 3"/>
          <p:cNvSpPr txBox="1"/>
          <p:nvPr/>
        </p:nvSpPr>
        <p:spPr>
          <a:xfrm>
            <a:off x="822960" y="1517904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4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7.435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22576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3C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righe di codice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6517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3A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schermate e un motore di calcolo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43400" y="1335024"/>
            <a:ext cx="3520440" cy="1920240"/>
          </a:xfrm>
          <a:prstGeom prst="roundRect">
            <a:avLst>
              <a:gd name="adj" fmla="val 3810"/>
            </a:avLst>
          </a:prstGeom>
          <a:solidFill>
            <a:srgbClr val="152420"/>
          </a:solidFill>
          <a:ln w="12700">
            <a:solidFill>
              <a:srgbClr val="2B453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9" name="Text 7"/>
          <p:cNvSpPr txBox="1"/>
          <p:nvPr/>
        </p:nvSpPr>
        <p:spPr>
          <a:xfrm>
            <a:off x="4599432" y="1517904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4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</a:t>
            </a:r>
            <a:endParaRPr lang="en-US" sz="3800" dirty="0"/>
          </a:p>
        </p:txBody>
      </p:sp>
      <p:sp>
        <p:nvSpPr>
          <p:cNvPr id="10" name="Text 8"/>
          <p:cNvSpPr txBox="1"/>
          <p:nvPr/>
        </p:nvSpPr>
        <p:spPr>
          <a:xfrm>
            <a:off x="4599432" y="2322576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3C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automatici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99432" y="26517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3A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 sul calcolo + 2 sull'interfaccia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119872" y="1335024"/>
            <a:ext cx="3520440" cy="1920240"/>
          </a:xfrm>
          <a:prstGeom prst="roundRect">
            <a:avLst>
              <a:gd name="adj" fmla="val 3810"/>
            </a:avLst>
          </a:prstGeom>
          <a:solidFill>
            <a:srgbClr val="152420"/>
          </a:solidFill>
          <a:ln w="12700">
            <a:solidFill>
              <a:srgbClr val="2B453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3" name="Text 11"/>
          <p:cNvSpPr txBox="1"/>
          <p:nvPr/>
        </p:nvSpPr>
        <p:spPr>
          <a:xfrm>
            <a:off x="8375904" y="1517904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4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3800" dirty="0"/>
          </a:p>
        </p:txBody>
      </p:sp>
      <p:sp>
        <p:nvSpPr>
          <p:cNvPr id="14" name="Text 12"/>
          <p:cNvSpPr txBox="1"/>
          <p:nvPr/>
        </p:nvSpPr>
        <p:spPr>
          <a:xfrm>
            <a:off x="8375904" y="2322576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3C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ruoli interni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375904" y="26517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3A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orchestratore, 3 controlli, 4 misure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3493008"/>
            <a:ext cx="3520440" cy="1920240"/>
          </a:xfrm>
          <a:prstGeom prst="roundRect">
            <a:avLst>
              <a:gd name="adj" fmla="val 3810"/>
            </a:avLst>
          </a:prstGeom>
          <a:solidFill>
            <a:srgbClr val="152420"/>
          </a:solidFill>
          <a:ln w="12700">
            <a:solidFill>
              <a:srgbClr val="2B453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7" name="Text 15"/>
          <p:cNvSpPr txBox="1"/>
          <p:nvPr/>
        </p:nvSpPr>
        <p:spPr>
          <a:xfrm>
            <a:off x="822960" y="367588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4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su 3</a:t>
            </a:r>
            <a:endParaRPr lang="en-US" sz="38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448056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3C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480974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3A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scenario, gulpease, risk note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343400" y="3493008"/>
            <a:ext cx="3520440" cy="1920240"/>
          </a:xfrm>
          <a:prstGeom prst="roundRect">
            <a:avLst>
              <a:gd name="adj" fmla="val 3810"/>
            </a:avLst>
          </a:prstGeom>
          <a:solidFill>
            <a:srgbClr val="152420"/>
          </a:solidFill>
          <a:ln w="12700">
            <a:solidFill>
              <a:srgbClr val="2B453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1" name="Text 19"/>
          <p:cNvSpPr txBox="1"/>
          <p:nvPr/>
        </p:nvSpPr>
        <p:spPr>
          <a:xfrm>
            <a:off x="4599432" y="367588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4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~700k</a:t>
            </a:r>
            <a:endParaRPr lang="en-US" sz="3800" dirty="0"/>
          </a:p>
        </p:txBody>
      </p:sp>
      <p:sp>
        <p:nvSpPr>
          <p:cNvPr id="22" name="Text 20"/>
          <p:cNvSpPr txBox="1"/>
          <p:nvPr/>
        </p:nvSpPr>
        <p:spPr>
          <a:xfrm>
            <a:off x="4599432" y="448056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3C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di pipeline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4599432" y="480974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3A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misurati con budget.py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119872" y="3493008"/>
            <a:ext cx="3520440" cy="1920240"/>
          </a:xfrm>
          <a:prstGeom prst="roundRect">
            <a:avLst>
              <a:gd name="adj" fmla="val 3810"/>
            </a:avLst>
          </a:prstGeom>
          <a:solidFill>
            <a:srgbClr val="152420"/>
          </a:solidFill>
          <a:ln w="12700">
            <a:solidFill>
              <a:srgbClr val="2B453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5" name="Text 23"/>
          <p:cNvSpPr txBox="1"/>
          <p:nvPr/>
        </p:nvSpPr>
        <p:spPr>
          <a:xfrm>
            <a:off x="8375904" y="367588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0B4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800" dirty="0"/>
          </a:p>
        </p:txBody>
      </p:sp>
      <p:sp>
        <p:nvSpPr>
          <p:cNvPr id="26" name="Text 24"/>
          <p:cNvSpPr txBox="1"/>
          <p:nvPr/>
        </p:nvSpPr>
        <p:spPr>
          <a:xfrm>
            <a:off x="8375904" y="448056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3C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raccomandazioni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8375904" y="480974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3A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output, verificato con grep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566928" y="5943600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93A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consumo di token non è un vanto: serve ad accorgersi quando un agente rigenera su un input lacunoso. In quel caso si torna al passaggio precedente, non si insiste.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keyvisual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440680" y="384048"/>
            <a:ext cx="6172200" cy="608990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160020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7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Conoscenza, scelte, libertà.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2542032"/>
            <a:ext cx="4526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L'app non dice a nessuno cosa fare con i propri soldi. Traduce le percentuali in tempo, e restituisce la decisione a chi la deve prendere — con una domanda precisa da fare a chi di dovere.</a:t>
            </a:r>
            <a:endParaRPr lang="en-US" sz="1350" dirty="0"/>
          </a:p>
        </p:txBody>
      </p:sp>
      <p:sp>
        <p:nvSpPr>
          <p:cNvPr id="5" name="Shape 2"/>
          <p:cNvSpPr/>
          <p:nvPr/>
        </p:nvSpPr>
        <p:spPr>
          <a:xfrm>
            <a:off x="566928" y="4041648"/>
            <a:ext cx="4526280" cy="1371600"/>
          </a:xfrm>
          <a:prstGeom prst="roundRect">
            <a:avLst>
              <a:gd name="adj" fmla="val 5333"/>
            </a:avLst>
          </a:prstGeom>
          <a:solidFill>
            <a:srgbClr val="F1F5F3"/>
          </a:solidFill>
          <a:ln w="12700">
            <a:solidFill>
              <a:srgbClr val="F1F5F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3"/>
          <p:cNvSpPr txBox="1"/>
          <p:nvPr/>
        </p:nvSpPr>
        <p:spPr>
          <a:xfrm>
            <a:off x="804672" y="4206240"/>
            <a:ext cx="4069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7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Isekai · Mesi di Libertà</a:t>
            </a:r>
            <a:endParaRPr lang="en-US" sz="13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5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Costruita con Flèche in cinque ore.</a:t>
            </a:r>
            <a:endParaRPr lang="en-US" sz="13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10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Salvatore Scarpato e Marco · Tema 02 Inclusione Finanziaria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Upgrade Futuri">
    <p:bg>
      <p:bgPr>
        <a:solidFill>
          <a:srgbClr val="0D17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566928" y="146304"/>
            <a:ext cx="11073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it-IT" sz="1050" b="1" kern="0" spc="200" dirty="0">
                <a:solidFill>
                  <a:srgbClr val="F0B429"/>
                </a:solidFill>
                <a:latin typeface="Calibri" pitchFamily="34" charset="0"/>
              </a:rPr>
              <a:t>PROSSIMI PASSI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66928" y="384048"/>
            <a:ext cx="110733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it-IT" sz="3000" b="1" kern="0" dirty="0">
                <a:solidFill>
                  <a:srgbClr val="F4F1EA"/>
                </a:solidFill>
                <a:latin typeface="Cambria" pitchFamily="34" charset="0"/>
              </a:rPr>
              <a:t>Dove stiamo andando.</a:t>
            </a:r>
          </a:p>
        </p:txBody>
      </p:sp>
      <p:sp>
        <p:nvSpPr>
          <p:cNvPr id="4" name="Card_4"/>
          <p:cNvSpPr/>
          <p:nvPr/>
        </p:nvSpPr>
        <p:spPr>
          <a:xfrm>
            <a:off x="566928" y="1335024"/>
            <a:ext cx="5408676" cy="1920240"/>
          </a:xfrm>
          <a:prstGeom prst="roundRect">
            <a:avLst>
              <a:gd name="adj" fmla="val 3810"/>
            </a:avLst>
          </a:prstGeom>
          <a:solidFill>
            <a:srgbClr val="152420"/>
          </a:solidFill>
          <a:ln w="12700">
            <a:solidFill>
              <a:srgbClr val="2B453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5" name="CLabel_5"/>
          <p:cNvSpPr txBox="1"/>
          <p:nvPr/>
        </p:nvSpPr>
        <p:spPr>
          <a:xfrm>
            <a:off x="795528" y="1518024"/>
            <a:ext cx="4951476" cy="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it-IT" sz="900" b="1" kern="0" spc="150" dirty="0">
                <a:solidFill>
                  <a:srgbClr val="F0B429"/>
                </a:solidFill>
                <a:latin typeface="Calibri" pitchFamily="34" charset="0"/>
              </a:rPr>
              <a:t>CLOUD E CROSS-DEVICE</a:t>
            </a:r>
          </a:p>
        </p:txBody>
      </p:sp>
      <p:sp>
        <p:nvSpPr>
          <p:cNvPr id="6" name="CTitle_6"/>
          <p:cNvSpPr txBox="1"/>
          <p:nvPr/>
        </p:nvSpPr>
        <p:spPr>
          <a:xfrm>
            <a:off x="795528" y="1825024"/>
            <a:ext cx="4951476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it-IT" sz="2000" b="1" kern="0" dirty="0">
                <a:solidFill>
                  <a:srgbClr val="F4F1EA"/>
                </a:solidFill>
                <a:latin typeface="Cambria" pitchFamily="34" charset="0"/>
              </a:rPr>
              <a:t>Server in cloud</a:t>
            </a:r>
          </a:p>
        </p:txBody>
      </p:sp>
      <p:sp>
        <p:nvSpPr>
          <p:cNvPr id="7" name="CDesc_7"/>
          <p:cNvSpPr txBox="1"/>
          <p:nvPr/>
        </p:nvSpPr>
        <p:spPr>
          <a:xfrm>
            <a:off x="795528" y="2355024"/>
            <a:ext cx="4951476" cy="7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it-IT" sz="1000" kern="0" dirty="0">
                <a:solidFill>
                  <a:srgbClr val="93ADA4"/>
                </a:solidFill>
                <a:latin typeface="Calibri" pitchFamily="34" charset="0"/>
              </a:rPr>
              <a:t>Archiviazione dei dati su server cloud.</a:t>
            </a:r>
          </a:p>
          <a:p>
            <a:pPr marL="0" indent="0">
              <a:buNone/>
            </a:pPr>
            <a:r>
              <a:rPr lang="it-IT" sz="1000" kern="0" dirty="0">
                <a:solidFill>
                  <a:srgbClr val="93ADA4"/>
                </a:solidFill>
                <a:latin typeface="Calibri" pitchFamily="34" charset="0"/>
              </a:rPr>
              <a:t>Accesso sincronizzato da qualsiasi dispositivo.</a:t>
            </a:r>
          </a:p>
          <a:p>
            <a:pPr marL="0" indent="0">
              <a:buNone/>
            </a:pPr>
            <a:r>
              <a:rPr lang="it-IT" sz="1000" kern="0" dirty="0">
                <a:solidFill>
                  <a:srgbClr val="93ADA4"/>
                </a:solidFill>
                <a:latin typeface="Calibri" pitchFamily="34" charset="0"/>
              </a:rPr>
              <a:t>Nessun dato perso al cambio di telefono.</a:t>
            </a:r>
          </a:p>
        </p:txBody>
      </p:sp>
      <p:sp>
        <p:nvSpPr>
          <p:cNvPr id="8" name="Card_8"/>
          <p:cNvSpPr/>
          <p:nvPr/>
        </p:nvSpPr>
        <p:spPr>
          <a:xfrm>
            <a:off x="6231636" y="1335024"/>
            <a:ext cx="5408676" cy="1920240"/>
          </a:xfrm>
          <a:prstGeom prst="roundRect">
            <a:avLst>
              <a:gd name="adj" fmla="val 3810"/>
            </a:avLst>
          </a:prstGeom>
          <a:solidFill>
            <a:srgbClr val="152420"/>
          </a:solidFill>
          <a:ln w="12700">
            <a:solidFill>
              <a:srgbClr val="2B453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9" name="CLabel_9"/>
          <p:cNvSpPr txBox="1"/>
          <p:nvPr/>
        </p:nvSpPr>
        <p:spPr>
          <a:xfrm>
            <a:off x="6460236" y="1518024"/>
            <a:ext cx="4951476" cy="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it-IT" sz="900" b="1" kern="0" spc="150" dirty="0">
                <a:solidFill>
                  <a:srgbClr val="F0B429"/>
                </a:solidFill>
                <a:latin typeface="Calibri" pitchFamily="34" charset="0"/>
              </a:rPr>
              <a:t>SICUREZZA</a:t>
            </a:r>
          </a:p>
        </p:txBody>
      </p:sp>
      <p:sp>
        <p:nvSpPr>
          <p:cNvPr id="10" name="CTitle_10"/>
          <p:cNvSpPr txBox="1"/>
          <p:nvPr/>
        </p:nvSpPr>
        <p:spPr>
          <a:xfrm>
            <a:off x="6460236" y="1825024"/>
            <a:ext cx="4951476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it-IT" sz="2000" b="1" kern="0" dirty="0">
                <a:solidFill>
                  <a:srgbClr val="F4F1EA"/>
                </a:solidFill>
                <a:latin typeface="Cambria" pitchFamily="34" charset="0"/>
              </a:rPr>
              <a:t>Crittografia end-to-end</a:t>
            </a:r>
          </a:p>
        </p:txBody>
      </p:sp>
      <p:sp>
        <p:nvSpPr>
          <p:cNvPr id="11" name="CDesc_11"/>
          <p:cNvSpPr txBox="1"/>
          <p:nvPr/>
        </p:nvSpPr>
        <p:spPr>
          <a:xfrm>
            <a:off x="6460236" y="2355024"/>
            <a:ext cx="4951476" cy="7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it-IT" sz="1000" kern="0" dirty="0">
                <a:solidFill>
                  <a:srgbClr val="93ADA4"/>
                </a:solidFill>
                <a:latin typeface="Calibri" pitchFamily="34" charset="0"/>
              </a:rPr>
              <a:t>Dati del cliente protetti con crittografia.</a:t>
            </a:r>
          </a:p>
          <a:p>
            <a:pPr marL="0" indent="0">
              <a:buNone/>
            </a:pPr>
            <a:r>
              <a:rPr lang="it-IT" sz="1000" kern="0" dirty="0">
                <a:solidFill>
                  <a:srgbClr val="93ADA4"/>
                </a:solidFill>
                <a:latin typeface="Calibri" pitchFamily="34" charset="0"/>
              </a:rPr>
              <a:t>Nessuna informazione sensibile in chiaro.</a:t>
            </a:r>
          </a:p>
          <a:p>
            <a:pPr marL="0" indent="0">
              <a:buNone/>
            </a:pPr>
            <a:r>
              <a:rPr lang="it-IT" sz="1000" kern="0" dirty="0">
                <a:solidFill>
                  <a:srgbClr val="93ADA4"/>
                </a:solidFill>
                <a:latin typeface="Calibri" pitchFamily="34" charset="0"/>
              </a:rPr>
              <a:t>Accesso riservato esclusivamente all'utente.</a:t>
            </a:r>
          </a:p>
        </p:txBody>
      </p:sp>
      <p:sp>
        <p:nvSpPr>
          <p:cNvPr id="12" name="Card_12"/>
          <p:cNvSpPr/>
          <p:nvPr/>
        </p:nvSpPr>
        <p:spPr>
          <a:xfrm>
            <a:off x="566928" y="3493008"/>
            <a:ext cx="5408676" cy="1920240"/>
          </a:xfrm>
          <a:prstGeom prst="roundRect">
            <a:avLst>
              <a:gd name="adj" fmla="val 3810"/>
            </a:avLst>
          </a:prstGeom>
          <a:solidFill>
            <a:srgbClr val="152420"/>
          </a:solidFill>
          <a:ln w="12700">
            <a:solidFill>
              <a:srgbClr val="2B453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3" name="CLabel_13"/>
          <p:cNvSpPr txBox="1"/>
          <p:nvPr/>
        </p:nvSpPr>
        <p:spPr>
          <a:xfrm>
            <a:off x="795528" y="3676008"/>
            <a:ext cx="4951476" cy="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it-IT" sz="900" b="1" kern="0" spc="150" dirty="0">
                <a:solidFill>
                  <a:srgbClr val="F0B429"/>
                </a:solidFill>
                <a:latin typeface="Calibri" pitchFamily="34" charset="0"/>
              </a:rPr>
              <a:t>PORTAFOGLIO</a:t>
            </a:r>
          </a:p>
        </p:txBody>
      </p:sp>
      <p:sp>
        <p:nvSpPr>
          <p:cNvPr id="14" name="CTitle_14"/>
          <p:cNvSpPr txBox="1"/>
          <p:nvPr/>
        </p:nvSpPr>
        <p:spPr>
          <a:xfrm>
            <a:off x="795528" y="3983008"/>
            <a:ext cx="4951476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it-IT" sz="2000" b="1" kern="0" dirty="0">
                <a:solidFill>
                  <a:srgbClr val="F4F1EA"/>
                </a:solidFill>
                <a:latin typeface="Cambria" pitchFamily="34" charset="0"/>
              </a:rPr>
              <a:t>Tracciamento investimenti</a:t>
            </a:r>
          </a:p>
        </p:txBody>
      </p:sp>
      <p:sp>
        <p:nvSpPr>
          <p:cNvPr id="15" name="CDesc_15"/>
          <p:cNvSpPr txBox="1"/>
          <p:nvPr/>
        </p:nvSpPr>
        <p:spPr>
          <a:xfrm>
            <a:off x="795528" y="4513008"/>
            <a:ext cx="4951476" cy="7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it-IT" sz="1000" kern="0" dirty="0">
                <a:solidFill>
                  <a:srgbClr val="93ADA4"/>
                </a:solidFill>
                <a:latin typeface="Calibri" pitchFamily="34" charset="0"/>
              </a:rPr>
              <a:t>Monitoraggio del portafoglio personale.</a:t>
            </a:r>
          </a:p>
          <a:p>
            <a:pPr marL="0" indent="0">
              <a:buNone/>
            </a:pPr>
            <a:r>
              <a:rPr lang="it-IT" sz="1000" kern="0" dirty="0">
                <a:solidFill>
                  <a:srgbClr val="93ADA4"/>
                </a:solidFill>
                <a:latin typeface="Calibri" pitchFamily="34" charset="0"/>
              </a:rPr>
              <a:t>Visibilita' sugli strumenti di investimento.</a:t>
            </a:r>
          </a:p>
          <a:p>
            <a:pPr marL="0" indent="0">
              <a:buNone/>
            </a:pPr>
            <a:r>
              <a:rPr lang="it-IT" sz="1000" kern="0" dirty="0">
                <a:solidFill>
                  <a:srgbClr val="93ADA4"/>
                </a:solidFill>
                <a:latin typeface="Calibri" pitchFamily="34" charset="0"/>
              </a:rPr>
              <a:t>Storico delle posizioni aperte e chiuse.</a:t>
            </a:r>
          </a:p>
        </p:txBody>
      </p:sp>
      <p:sp>
        <p:nvSpPr>
          <p:cNvPr id="16" name="Card_16"/>
          <p:cNvSpPr/>
          <p:nvPr/>
        </p:nvSpPr>
        <p:spPr>
          <a:xfrm>
            <a:off x="6231636" y="3493008"/>
            <a:ext cx="5408676" cy="1920240"/>
          </a:xfrm>
          <a:prstGeom prst="roundRect">
            <a:avLst>
              <a:gd name="adj" fmla="val 3810"/>
            </a:avLst>
          </a:prstGeom>
          <a:solidFill>
            <a:srgbClr val="152420"/>
          </a:solidFill>
          <a:ln w="12700">
            <a:solidFill>
              <a:srgbClr val="2B453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7" name="CLabel_17"/>
          <p:cNvSpPr txBox="1"/>
          <p:nvPr/>
        </p:nvSpPr>
        <p:spPr>
          <a:xfrm>
            <a:off x="6460236" y="3676008"/>
            <a:ext cx="4951476" cy="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it-IT" sz="900" b="1" kern="0" spc="150" dirty="0">
                <a:solidFill>
                  <a:srgbClr val="F0B429"/>
                </a:solidFill>
                <a:latin typeface="Calibri" pitchFamily="34" charset="0"/>
              </a:rPr>
              <a:t>PREZZI IN TEMPO REALE</a:t>
            </a:r>
          </a:p>
        </p:txBody>
      </p:sp>
      <p:sp>
        <p:nvSpPr>
          <p:cNvPr id="18" name="CTitle_18"/>
          <p:cNvSpPr txBox="1"/>
          <p:nvPr/>
        </p:nvSpPr>
        <p:spPr>
          <a:xfrm>
            <a:off x="6460236" y="3983008"/>
            <a:ext cx="4951476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it-IT" sz="2000" b="1" kern="0" dirty="0">
                <a:solidFill>
                  <a:srgbClr val="F4F1EA"/>
                </a:solidFill>
                <a:latin typeface="Cambria" pitchFamily="34" charset="0"/>
              </a:rPr>
              <a:t>ETF ed ETC aggiornati</a:t>
            </a:r>
          </a:p>
        </p:txBody>
      </p:sp>
      <p:sp>
        <p:nvSpPr>
          <p:cNvPr id="19" name="CDesc_19"/>
          <p:cNvSpPr txBox="1"/>
          <p:nvPr/>
        </p:nvSpPr>
        <p:spPr>
          <a:xfrm>
            <a:off x="6460236" y="4513008"/>
            <a:ext cx="4951476" cy="7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it-IT" sz="1000" kern="0" dirty="0">
                <a:solidFill>
                  <a:srgbClr val="93ADA4"/>
                </a:solidFill>
                <a:latin typeface="Calibri" pitchFamily="34" charset="0"/>
              </a:rPr>
              <a:t>Aggiornamento automatico dei prezzi.</a:t>
            </a:r>
          </a:p>
          <a:p>
            <a:pPr marL="0" indent="0">
              <a:buNone/>
            </a:pPr>
            <a:r>
              <a:rPr lang="it-IT" sz="1000" kern="0" dirty="0">
                <a:solidFill>
                  <a:srgbClr val="93ADA4"/>
                </a:solidFill>
                <a:latin typeface="Calibri" pitchFamily="34" charset="0"/>
              </a:rPr>
              <a:t>Copertura di ETF, ETC e altri strumenti.</a:t>
            </a:r>
          </a:p>
          <a:p>
            <a:pPr marL="0" indent="0">
              <a:buNone/>
            </a:pPr>
            <a:r>
              <a:rPr lang="it-IT" sz="1000" kern="0" dirty="0">
                <a:solidFill>
                  <a:srgbClr val="93ADA4"/>
                </a:solidFill>
                <a:latin typeface="Calibri" pitchFamily="34" charset="0"/>
              </a:rPr>
              <a:t>Dati sempre attuali per calcoli accurati.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3719</Words>
  <Application>Microsoft Office PowerPoint</Application>
  <PresentationFormat>Widescreen</PresentationFormat>
  <Paragraphs>361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Isekai — Mesi di Libertà · Flèche</dc:title>
  <dc:subject>PptxGenJS Presentation</dc:subject>
  <dc:creator>Salvatore Scarpato e Marco</dc:creator>
  <cp:lastModifiedBy>Moscariello, Marco</cp:lastModifiedBy>
  <cp:revision>2</cp:revision>
  <dcterms:created xsi:type="dcterms:W3CDTF">2026-09-14T12:54:21Z</dcterms:created>
  <dcterms:modified xsi:type="dcterms:W3CDTF">2026-09-14T13:16:42Z</dcterms:modified>
</cp:coreProperties>
</file>